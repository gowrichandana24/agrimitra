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4"/>
  </p:notesMasterIdLst>
  <p:sldIdLst>
    <p:sldId id="256" r:id="rId2"/>
    <p:sldId id="257" r:id="rId3"/>
    <p:sldId id="265" r:id="rId4"/>
    <p:sldId id="299" r:id="rId5"/>
    <p:sldId id="300" r:id="rId6"/>
    <p:sldId id="301" r:id="rId7"/>
    <p:sldId id="266" r:id="rId8"/>
    <p:sldId id="302" r:id="rId9"/>
    <p:sldId id="292" r:id="rId10"/>
    <p:sldId id="296" r:id="rId11"/>
    <p:sldId id="293" r:id="rId12"/>
    <p:sldId id="294" r:id="rId13"/>
    <p:sldId id="295" r:id="rId14"/>
    <p:sldId id="297" r:id="rId15"/>
    <p:sldId id="298" r:id="rId16"/>
    <p:sldId id="303" r:id="rId17"/>
    <p:sldId id="304" r:id="rId18"/>
    <p:sldId id="305" r:id="rId19"/>
    <p:sldId id="306" r:id="rId20"/>
    <p:sldId id="291" r:id="rId21"/>
    <p:sldId id="307" r:id="rId22"/>
    <p:sldId id="308" r:id="rId23"/>
  </p:sldIdLst>
  <p:sldSz cx="9144000" cy="6858000" type="screen4x3"/>
  <p:notesSz cx="6858000" cy="9144000"/>
  <p:embeddedFontLst>
    <p:embeddedFont>
      <p:font typeface="Archivo Narrow" panose="020B0604020202020204" charset="0"/>
      <p:regular r:id="rId25"/>
      <p:bold r:id="rId26"/>
      <p:italic r:id="rId27"/>
      <p:boldItalic r:id="rId28"/>
    </p:embeddedFont>
    <p:embeddedFont>
      <p:font typeface="Georgia" panose="02040502050405020303" pitchFamily="18"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66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309"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Shape 4"/>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320754475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Shape 1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9" name="Shape 10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439183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Shape 11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5" name="Shape 115"/>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4540744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0" y="1886797"/>
            <a:ext cx="8520600" cy="1842900"/>
          </a:xfrm>
          <a:prstGeom prst="rect">
            <a:avLst/>
          </a:prstGeom>
        </p:spPr>
        <p:txBody>
          <a:bodyPr spcFirstLastPara="1" wrap="square" lIns="91425" tIns="91425" rIns="91425" bIns="91425" anchor="b"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1" name="Shape 11"/>
          <p:cNvSpPr txBox="1">
            <a:spLocks noGrp="1"/>
          </p:cNvSpPr>
          <p:nvPr>
            <p:ph type="subTitle" idx="1"/>
          </p:nvPr>
        </p:nvSpPr>
        <p:spPr>
          <a:xfrm>
            <a:off x="311700" y="3778833"/>
            <a:ext cx="8520600" cy="10569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Shape 1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13" name="Shape 13"/>
          <p:cNvSpPr/>
          <p:nvPr/>
        </p:nvSpPr>
        <p:spPr>
          <a:xfrm flipH="1">
            <a:off x="18" y="67300"/>
            <a:ext cx="9143982" cy="1420254"/>
          </a:xfrm>
          <a:prstGeom prst="flowChartDocument">
            <a:avLst/>
          </a:prstGeom>
          <a:no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 name="Shape 14"/>
          <p:cNvSpPr/>
          <p:nvPr/>
        </p:nvSpPr>
        <p:spPr>
          <a:xfrm flipH="1">
            <a:off x="18" y="0"/>
            <a:ext cx="9143982" cy="1420254"/>
          </a:xfrm>
          <a:prstGeom prst="flowChartDocument">
            <a:avLst/>
          </a:prstGeom>
          <a:solidFill>
            <a:srgbClr val="0B5394"/>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pic>
        <p:nvPicPr>
          <p:cNvPr id="15" name="Shape 15"/>
          <p:cNvPicPr preferRelativeResize="0"/>
          <p:nvPr/>
        </p:nvPicPr>
        <p:blipFill>
          <a:blip r:embed="rId2">
            <a:alphaModFix/>
          </a:blip>
          <a:stretch>
            <a:fillRect/>
          </a:stretch>
        </p:blipFill>
        <p:spPr>
          <a:xfrm>
            <a:off x="6090546" y="342390"/>
            <a:ext cx="2463805" cy="779367"/>
          </a:xfrm>
          <a:prstGeom prst="rect">
            <a:avLst/>
          </a:prstGeom>
          <a:noFill/>
          <a:ln>
            <a:noFill/>
          </a:ln>
        </p:spPr>
      </p:pic>
      <p:sp>
        <p:nvSpPr>
          <p:cNvPr id="16" name="Shape 16"/>
          <p:cNvSpPr/>
          <p:nvPr/>
        </p:nvSpPr>
        <p:spPr>
          <a:xfrm>
            <a:off x="-11025" y="5919900"/>
            <a:ext cx="9155100" cy="9381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 name="Shape 17"/>
          <p:cNvSpPr txBox="1"/>
          <p:nvPr/>
        </p:nvSpPr>
        <p:spPr>
          <a:xfrm>
            <a:off x="25" y="5919900"/>
            <a:ext cx="3572100" cy="93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b="1">
                <a:solidFill>
                  <a:srgbClr val="FFFFFF"/>
                </a:solidFill>
                <a:latin typeface="Georgia"/>
                <a:ea typeface="Georgia"/>
                <a:cs typeface="Georgia"/>
                <a:sym typeface="Georgia"/>
              </a:rPr>
              <a:t>MISSION</a:t>
            </a:r>
            <a:endParaRPr b="1">
              <a:solidFill>
                <a:srgbClr val="FFFFFF"/>
              </a:solidFill>
              <a:latin typeface="Georgia"/>
              <a:ea typeface="Georgia"/>
              <a:cs typeface="Georgia"/>
              <a:sym typeface="Georgia"/>
            </a:endParaRPr>
          </a:p>
          <a:p>
            <a:pPr marL="0" lvl="0" indent="0" algn="ctr" rtl="0">
              <a:spcBef>
                <a:spcPts val="0"/>
              </a:spcBef>
              <a:spcAft>
                <a:spcPts val="0"/>
              </a:spcAft>
              <a:buNone/>
            </a:pPr>
            <a:r>
              <a:rPr lang="en-GB" sz="1100">
                <a:solidFill>
                  <a:srgbClr val="FFFFFF"/>
                </a:solidFill>
                <a:latin typeface="Georgia"/>
                <a:ea typeface="Georgia"/>
                <a:cs typeface="Georgia"/>
                <a:sym typeface="Georgia"/>
              </a:rPr>
              <a:t>CHRIST is a nurturing ground for an individual’s holistic development to make effective contribution to the society in a dynamic environment</a:t>
            </a:r>
            <a:endParaRPr sz="1100">
              <a:solidFill>
                <a:srgbClr val="FFFFFF"/>
              </a:solidFill>
              <a:latin typeface="Georgia"/>
              <a:ea typeface="Georgia"/>
              <a:cs typeface="Georgia"/>
              <a:sym typeface="Georgia"/>
            </a:endParaRPr>
          </a:p>
        </p:txBody>
      </p:sp>
      <p:sp>
        <p:nvSpPr>
          <p:cNvPr id="18" name="Shape 18"/>
          <p:cNvSpPr txBox="1"/>
          <p:nvPr/>
        </p:nvSpPr>
        <p:spPr>
          <a:xfrm>
            <a:off x="3709075" y="5919900"/>
            <a:ext cx="2030700" cy="641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b="1">
                <a:solidFill>
                  <a:srgbClr val="FFFFFF"/>
                </a:solidFill>
                <a:latin typeface="Georgia"/>
                <a:ea typeface="Georgia"/>
                <a:cs typeface="Georgia"/>
                <a:sym typeface="Georgia"/>
              </a:rPr>
              <a:t>VISION</a:t>
            </a:r>
            <a:endParaRPr b="1">
              <a:solidFill>
                <a:srgbClr val="FFFFFF"/>
              </a:solidFill>
              <a:latin typeface="Georgia"/>
              <a:ea typeface="Georgia"/>
              <a:cs typeface="Georgia"/>
              <a:sym typeface="Georgia"/>
            </a:endParaRPr>
          </a:p>
          <a:p>
            <a:pPr marL="0" lvl="0" indent="0" algn="ctr" rtl="0">
              <a:spcBef>
                <a:spcPts val="0"/>
              </a:spcBef>
              <a:spcAft>
                <a:spcPts val="0"/>
              </a:spcAft>
              <a:buNone/>
            </a:pPr>
            <a:r>
              <a:rPr lang="en-GB" sz="1100">
                <a:solidFill>
                  <a:srgbClr val="FFFFFF"/>
                </a:solidFill>
                <a:latin typeface="Georgia"/>
                <a:ea typeface="Georgia"/>
                <a:cs typeface="Georgia"/>
                <a:sym typeface="Georgia"/>
              </a:rPr>
              <a:t>Excellence and Service</a:t>
            </a:r>
            <a:endParaRPr sz="1100">
              <a:solidFill>
                <a:srgbClr val="FFFFFF"/>
              </a:solidFill>
              <a:latin typeface="Georgia"/>
              <a:ea typeface="Georgia"/>
              <a:cs typeface="Georgia"/>
              <a:sym typeface="Georgia"/>
            </a:endParaRPr>
          </a:p>
        </p:txBody>
      </p:sp>
      <p:sp>
        <p:nvSpPr>
          <p:cNvPr id="19" name="Shape 19"/>
          <p:cNvSpPr txBox="1"/>
          <p:nvPr/>
        </p:nvSpPr>
        <p:spPr>
          <a:xfrm>
            <a:off x="6067875" y="5919900"/>
            <a:ext cx="2984400" cy="93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b="1">
                <a:solidFill>
                  <a:srgbClr val="FFFFFF"/>
                </a:solidFill>
                <a:latin typeface="Georgia"/>
                <a:ea typeface="Georgia"/>
                <a:cs typeface="Georgia"/>
                <a:sym typeface="Georgia"/>
              </a:rPr>
              <a:t>CORE  VALUES</a:t>
            </a:r>
            <a:endParaRPr b="1">
              <a:solidFill>
                <a:srgbClr val="FFFFFF"/>
              </a:solidFill>
              <a:latin typeface="Georgia"/>
              <a:ea typeface="Georgia"/>
              <a:cs typeface="Georgia"/>
              <a:sym typeface="Georgia"/>
            </a:endParaRPr>
          </a:p>
          <a:p>
            <a:pPr marL="0" lvl="0" indent="0" algn="ctr" rtl="0">
              <a:spcBef>
                <a:spcPts val="0"/>
              </a:spcBef>
              <a:spcAft>
                <a:spcPts val="0"/>
              </a:spcAft>
              <a:buNone/>
            </a:pPr>
            <a:r>
              <a:rPr lang="en-GB" sz="1100">
                <a:solidFill>
                  <a:srgbClr val="FFFFFF"/>
                </a:solidFill>
                <a:latin typeface="Georgia"/>
                <a:ea typeface="Georgia"/>
                <a:cs typeface="Georgia"/>
                <a:sym typeface="Georgia"/>
              </a:rPr>
              <a:t>Faith in God |  Moral Uprightness</a:t>
            </a:r>
            <a:br>
              <a:rPr lang="en-GB" sz="1100">
                <a:solidFill>
                  <a:srgbClr val="FFFFFF"/>
                </a:solidFill>
                <a:latin typeface="Georgia"/>
                <a:ea typeface="Georgia"/>
                <a:cs typeface="Georgia"/>
                <a:sym typeface="Georgia"/>
              </a:rPr>
            </a:br>
            <a:r>
              <a:rPr lang="en-GB" sz="1100">
                <a:solidFill>
                  <a:srgbClr val="FFFFFF"/>
                </a:solidFill>
                <a:latin typeface="Georgia"/>
                <a:ea typeface="Georgia"/>
                <a:cs typeface="Georgia"/>
                <a:sym typeface="Georgia"/>
              </a:rPr>
              <a:t> Love of Fellow Beings   </a:t>
            </a:r>
            <a:br>
              <a:rPr lang="en-GB" sz="1100">
                <a:solidFill>
                  <a:srgbClr val="FFFFFF"/>
                </a:solidFill>
                <a:latin typeface="Georgia"/>
                <a:ea typeface="Georgia"/>
                <a:cs typeface="Georgia"/>
                <a:sym typeface="Georgia"/>
              </a:rPr>
            </a:br>
            <a:r>
              <a:rPr lang="en-GB" sz="1100">
                <a:solidFill>
                  <a:srgbClr val="FFFFFF"/>
                </a:solidFill>
                <a:latin typeface="Georgia"/>
                <a:ea typeface="Georgia"/>
                <a:cs typeface="Georgia"/>
                <a:sym typeface="Georgia"/>
              </a:rPr>
              <a:t>Social Responsibility | Pursuit of Excellence</a:t>
            </a:r>
            <a:endParaRPr sz="1100">
              <a:solidFill>
                <a:srgbClr val="FFFFFF"/>
              </a:solidFill>
              <a:latin typeface="Georgia"/>
              <a:ea typeface="Georgia"/>
              <a:cs typeface="Georgia"/>
              <a:sym typeface="Georgi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2867800"/>
            <a:ext cx="8520600" cy="11223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Shape 2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23" name="Shape 23"/>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 name="Shape 24"/>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25" name="Shape 25"/>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 name="Shape 26"/>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 name="Shape 27"/>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Shape 30"/>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lstStyle>
            <a:lvl1pPr marL="457200" lvl="0" indent="-368300">
              <a:spcBef>
                <a:spcPts val="0"/>
              </a:spcBef>
              <a:spcAft>
                <a:spcPts val="0"/>
              </a:spcAft>
              <a:buSzPts val="2200"/>
              <a:buChar char="●"/>
              <a:defRPr/>
            </a:lvl1pPr>
            <a:lvl2pPr marL="914400" lvl="1" indent="-342900">
              <a:spcBef>
                <a:spcPts val="600"/>
              </a:spcBef>
              <a:spcAft>
                <a:spcPts val="0"/>
              </a:spcAft>
              <a:buSzPts val="1800"/>
              <a:buChar char="○"/>
              <a:defRPr/>
            </a:lvl2pPr>
            <a:lvl3pPr marL="1371600" lvl="2" indent="-342900">
              <a:spcBef>
                <a:spcPts val="600"/>
              </a:spcBef>
              <a:spcAft>
                <a:spcPts val="0"/>
              </a:spcAft>
              <a:buSzPts val="1800"/>
              <a:buChar char="■"/>
              <a:defRPr/>
            </a:lvl3pPr>
            <a:lvl4pPr marL="1828800" lvl="3" indent="-342900">
              <a:spcBef>
                <a:spcPts val="600"/>
              </a:spcBef>
              <a:spcAft>
                <a:spcPts val="0"/>
              </a:spcAft>
              <a:buSzPts val="1800"/>
              <a:buChar char="●"/>
              <a:defRPr/>
            </a:lvl4pPr>
            <a:lvl5pPr marL="2286000" lvl="4" indent="-342900">
              <a:spcBef>
                <a:spcPts val="600"/>
              </a:spcBef>
              <a:spcAft>
                <a:spcPts val="0"/>
              </a:spcAft>
              <a:buSzPts val="1800"/>
              <a:buChar char="○"/>
              <a:defRPr/>
            </a:lvl5pPr>
            <a:lvl6pPr marL="2743200" lvl="5" indent="-342900">
              <a:spcBef>
                <a:spcPts val="600"/>
              </a:spcBef>
              <a:spcAft>
                <a:spcPts val="0"/>
              </a:spcAft>
              <a:buSzPts val="1800"/>
              <a:buChar char="■"/>
              <a:defRPr/>
            </a:lvl6pPr>
            <a:lvl7pPr marL="3200400" lvl="6" indent="-342900">
              <a:spcBef>
                <a:spcPts val="600"/>
              </a:spcBef>
              <a:spcAft>
                <a:spcPts val="0"/>
              </a:spcAft>
              <a:buSzPts val="1800"/>
              <a:buChar char="●"/>
              <a:defRPr/>
            </a:lvl7pPr>
            <a:lvl8pPr marL="3657600" lvl="7" indent="-342900">
              <a:spcBef>
                <a:spcPts val="600"/>
              </a:spcBef>
              <a:spcAft>
                <a:spcPts val="0"/>
              </a:spcAft>
              <a:buSzPts val="1800"/>
              <a:buChar char="○"/>
              <a:defRPr/>
            </a:lvl8pPr>
            <a:lvl9pPr marL="4114800" lvl="8" indent="-342900">
              <a:spcBef>
                <a:spcPts val="600"/>
              </a:spcBef>
              <a:spcAft>
                <a:spcPts val="600"/>
              </a:spcAft>
              <a:buSzPts val="1800"/>
              <a:buChar char="■"/>
              <a:defRPr/>
            </a:lvl9pPr>
          </a:lstStyle>
          <a:p>
            <a:endParaRPr/>
          </a:p>
        </p:txBody>
      </p:sp>
      <p:sp>
        <p:nvSpPr>
          <p:cNvPr id="31" name="Shape 3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32" name="Shape 32"/>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 name="Shape 33"/>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34" name="Shape 34"/>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 name="Shape 35"/>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 name="Shape 36"/>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9" name="Shape 4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50" name="Shape 50"/>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 name="Shape 51"/>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52" name="Shape 52"/>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3" name="Shape 53"/>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 name="Shape 54"/>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5"/>
        <p:cNvGrpSpPr/>
        <p:nvPr/>
      </p:nvGrpSpPr>
      <p:grpSpPr>
        <a:xfrm>
          <a:off x="0" y="0"/>
          <a:ext cx="0" cy="0"/>
          <a:chOff x="0" y="0"/>
          <a:chExt cx="0" cy="0"/>
        </a:xfrm>
      </p:grpSpPr>
      <p:sp>
        <p:nvSpPr>
          <p:cNvPr id="56" name="Shape 56"/>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7" name="Shape 57"/>
          <p:cNvSpPr txBox="1">
            <a:spLocks noGrp="1"/>
          </p:cNvSpPr>
          <p:nvPr>
            <p:ph type="body" idx="1"/>
          </p:nvPr>
        </p:nvSpPr>
        <p:spPr>
          <a:xfrm>
            <a:off x="311700" y="1852800"/>
            <a:ext cx="2808000" cy="42393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600"/>
              </a:spcBef>
              <a:spcAft>
                <a:spcPts val="0"/>
              </a:spcAft>
              <a:buSzPts val="1200"/>
              <a:buChar char="○"/>
              <a:defRPr sz="1200"/>
            </a:lvl2pPr>
            <a:lvl3pPr marL="1371600" lvl="2" indent="-304800">
              <a:spcBef>
                <a:spcPts val="600"/>
              </a:spcBef>
              <a:spcAft>
                <a:spcPts val="0"/>
              </a:spcAft>
              <a:buSzPts val="1200"/>
              <a:buChar char="■"/>
              <a:defRPr sz="1200"/>
            </a:lvl3pPr>
            <a:lvl4pPr marL="1828800" lvl="3" indent="-304800">
              <a:spcBef>
                <a:spcPts val="600"/>
              </a:spcBef>
              <a:spcAft>
                <a:spcPts val="0"/>
              </a:spcAft>
              <a:buSzPts val="1200"/>
              <a:buChar char="●"/>
              <a:defRPr sz="1200"/>
            </a:lvl4pPr>
            <a:lvl5pPr marL="2286000" lvl="4" indent="-304800">
              <a:spcBef>
                <a:spcPts val="600"/>
              </a:spcBef>
              <a:spcAft>
                <a:spcPts val="0"/>
              </a:spcAft>
              <a:buSzPts val="1200"/>
              <a:buChar char="○"/>
              <a:defRPr sz="1200"/>
            </a:lvl5pPr>
            <a:lvl6pPr marL="2743200" lvl="5" indent="-304800">
              <a:spcBef>
                <a:spcPts val="600"/>
              </a:spcBef>
              <a:spcAft>
                <a:spcPts val="0"/>
              </a:spcAft>
              <a:buSzPts val="1200"/>
              <a:buChar char="■"/>
              <a:defRPr sz="1200"/>
            </a:lvl6pPr>
            <a:lvl7pPr marL="3200400" lvl="6" indent="-304800">
              <a:spcBef>
                <a:spcPts val="600"/>
              </a:spcBef>
              <a:spcAft>
                <a:spcPts val="0"/>
              </a:spcAft>
              <a:buSzPts val="1200"/>
              <a:buChar char="●"/>
              <a:defRPr sz="1200"/>
            </a:lvl7pPr>
            <a:lvl8pPr marL="3657600" lvl="7" indent="-304800">
              <a:spcBef>
                <a:spcPts val="600"/>
              </a:spcBef>
              <a:spcAft>
                <a:spcPts val="0"/>
              </a:spcAft>
              <a:buSzPts val="1200"/>
              <a:buChar char="○"/>
              <a:defRPr sz="1200"/>
            </a:lvl8pPr>
            <a:lvl9pPr marL="4114800" lvl="8" indent="-304800">
              <a:spcBef>
                <a:spcPts val="600"/>
              </a:spcBef>
              <a:spcAft>
                <a:spcPts val="600"/>
              </a:spcAft>
              <a:buSzPts val="1200"/>
              <a:buChar char="■"/>
              <a:defRPr sz="1200"/>
            </a:lvl9pPr>
          </a:lstStyle>
          <a:p>
            <a:endParaRPr/>
          </a:p>
        </p:txBody>
      </p:sp>
      <p:sp>
        <p:nvSpPr>
          <p:cNvPr id="58" name="Shape 5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59" name="Shape 59"/>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 name="Shape 60"/>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61" name="Shape 61"/>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2" name="Shape 62"/>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3" name="Shape 63"/>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90250" y="600200"/>
            <a:ext cx="6367800" cy="54543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66" name="Shape 6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67" name="Shape 67"/>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8" name="Shape 68"/>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69" name="Shape 69"/>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0" name="Shape 70"/>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1" name="Shape 71"/>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2"/>
        <p:cNvGrpSpPr/>
        <p:nvPr/>
      </p:nvGrpSpPr>
      <p:grpSpPr>
        <a:xfrm>
          <a:off x="0" y="0"/>
          <a:ext cx="0" cy="0"/>
          <a:chOff x="0" y="0"/>
          <a:chExt cx="0" cy="0"/>
        </a:xfrm>
      </p:grpSpPr>
      <p:sp>
        <p:nvSpPr>
          <p:cNvPr id="73" name="Shape 73"/>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4" name="Shape 74"/>
          <p:cNvSpPr txBox="1">
            <a:spLocks noGrp="1"/>
          </p:cNvSpPr>
          <p:nvPr>
            <p:ph type="title"/>
          </p:nvPr>
        </p:nvSpPr>
        <p:spPr>
          <a:xfrm>
            <a:off x="265500" y="1644233"/>
            <a:ext cx="4045200" cy="19764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75" name="Shape 75"/>
          <p:cNvSpPr txBox="1">
            <a:spLocks noGrp="1"/>
          </p:cNvSpPr>
          <p:nvPr>
            <p:ph type="subTitle" idx="1"/>
          </p:nvPr>
        </p:nvSpPr>
        <p:spPr>
          <a:xfrm>
            <a:off x="265500" y="3737433"/>
            <a:ext cx="4045200" cy="16467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6" name="Shape 76"/>
          <p:cNvSpPr txBox="1">
            <a:spLocks noGrp="1"/>
          </p:cNvSpPr>
          <p:nvPr>
            <p:ph type="body" idx="2"/>
          </p:nvPr>
        </p:nvSpPr>
        <p:spPr>
          <a:xfrm>
            <a:off x="4939500" y="965433"/>
            <a:ext cx="3837000" cy="4926900"/>
          </a:xfrm>
          <a:prstGeom prst="rect">
            <a:avLst/>
          </a:prstGeom>
        </p:spPr>
        <p:txBody>
          <a:bodyPr spcFirstLastPara="1" wrap="square" lIns="91425" tIns="91425" rIns="91425" bIns="91425" anchor="ctr" anchorCtr="0"/>
          <a:lstStyle>
            <a:lvl1pPr marL="457200" lvl="0" indent="-368300">
              <a:spcBef>
                <a:spcPts val="0"/>
              </a:spcBef>
              <a:spcAft>
                <a:spcPts val="0"/>
              </a:spcAft>
              <a:buSzPts val="2200"/>
              <a:buChar char="●"/>
              <a:defRPr/>
            </a:lvl1pPr>
            <a:lvl2pPr marL="914400" lvl="1" indent="-342900">
              <a:spcBef>
                <a:spcPts val="600"/>
              </a:spcBef>
              <a:spcAft>
                <a:spcPts val="0"/>
              </a:spcAft>
              <a:buSzPts val="1800"/>
              <a:buChar char="○"/>
              <a:defRPr/>
            </a:lvl2pPr>
            <a:lvl3pPr marL="1371600" lvl="2" indent="-342900">
              <a:spcBef>
                <a:spcPts val="600"/>
              </a:spcBef>
              <a:spcAft>
                <a:spcPts val="0"/>
              </a:spcAft>
              <a:buSzPts val="1800"/>
              <a:buChar char="■"/>
              <a:defRPr/>
            </a:lvl3pPr>
            <a:lvl4pPr marL="1828800" lvl="3" indent="-342900">
              <a:spcBef>
                <a:spcPts val="600"/>
              </a:spcBef>
              <a:spcAft>
                <a:spcPts val="0"/>
              </a:spcAft>
              <a:buSzPts val="1800"/>
              <a:buChar char="●"/>
              <a:defRPr/>
            </a:lvl4pPr>
            <a:lvl5pPr marL="2286000" lvl="4" indent="-342900">
              <a:spcBef>
                <a:spcPts val="600"/>
              </a:spcBef>
              <a:spcAft>
                <a:spcPts val="0"/>
              </a:spcAft>
              <a:buSzPts val="1800"/>
              <a:buChar char="○"/>
              <a:defRPr/>
            </a:lvl5pPr>
            <a:lvl6pPr marL="2743200" lvl="5" indent="-342900">
              <a:spcBef>
                <a:spcPts val="600"/>
              </a:spcBef>
              <a:spcAft>
                <a:spcPts val="0"/>
              </a:spcAft>
              <a:buSzPts val="1800"/>
              <a:buChar char="■"/>
              <a:defRPr/>
            </a:lvl6pPr>
            <a:lvl7pPr marL="3200400" lvl="6" indent="-342900">
              <a:spcBef>
                <a:spcPts val="600"/>
              </a:spcBef>
              <a:spcAft>
                <a:spcPts val="0"/>
              </a:spcAft>
              <a:buSzPts val="1800"/>
              <a:buChar char="●"/>
              <a:defRPr/>
            </a:lvl7pPr>
            <a:lvl8pPr marL="3657600" lvl="7" indent="-342900">
              <a:spcBef>
                <a:spcPts val="600"/>
              </a:spcBef>
              <a:spcAft>
                <a:spcPts val="0"/>
              </a:spcAft>
              <a:buSzPts val="1800"/>
              <a:buChar char="○"/>
              <a:defRPr/>
            </a:lvl8pPr>
            <a:lvl9pPr marL="4114800" lvl="8" indent="-342900">
              <a:spcBef>
                <a:spcPts val="600"/>
              </a:spcBef>
              <a:spcAft>
                <a:spcPts val="600"/>
              </a:spcAft>
              <a:buSzPts val="1800"/>
              <a:buChar char="■"/>
              <a:defRPr/>
            </a:lvl9pPr>
          </a:lstStyle>
          <a:p>
            <a:endParaRPr/>
          </a:p>
        </p:txBody>
      </p:sp>
      <p:sp>
        <p:nvSpPr>
          <p:cNvPr id="77" name="Shape 7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78" name="Shape 78"/>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9" name="Shape 79"/>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80" name="Shape 80"/>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1" name="Shape 81"/>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2" name="Shape 82"/>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3"/>
        <p:cNvGrpSpPr/>
        <p:nvPr/>
      </p:nvGrpSpPr>
      <p:grpSpPr>
        <a:xfrm>
          <a:off x="0" y="0"/>
          <a:ext cx="0" cy="0"/>
          <a:chOff x="0" y="0"/>
          <a:chExt cx="0" cy="0"/>
        </a:xfrm>
      </p:grpSpPr>
      <p:sp>
        <p:nvSpPr>
          <p:cNvPr id="84" name="Shape 84"/>
          <p:cNvSpPr txBox="1">
            <a:spLocks noGrp="1"/>
          </p:cNvSpPr>
          <p:nvPr>
            <p:ph type="body" idx="1"/>
          </p:nvPr>
        </p:nvSpPr>
        <p:spPr>
          <a:xfrm>
            <a:off x="311700" y="5640767"/>
            <a:ext cx="5998800" cy="8067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2200"/>
              <a:buNone/>
              <a:defRPr/>
            </a:lvl1pPr>
          </a:lstStyle>
          <a:p>
            <a:endParaRPr/>
          </a:p>
        </p:txBody>
      </p:sp>
      <p:sp>
        <p:nvSpPr>
          <p:cNvPr id="85" name="Shape 8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86" name="Shape 86"/>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7" name="Shape 87"/>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88" name="Shape 88"/>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9" name="Shape 89"/>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0" name="Shape 90"/>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1"/>
        <p:cNvGrpSpPr/>
        <p:nvPr/>
      </p:nvGrpSpPr>
      <p:grpSpPr>
        <a:xfrm>
          <a:off x="0" y="0"/>
          <a:ext cx="0" cy="0"/>
          <a:chOff x="0" y="0"/>
          <a:chExt cx="0" cy="0"/>
        </a:xfrm>
      </p:grpSpPr>
      <p:sp>
        <p:nvSpPr>
          <p:cNvPr id="92" name="Shape 92"/>
          <p:cNvSpPr txBox="1">
            <a:spLocks noGrp="1"/>
          </p:cNvSpPr>
          <p:nvPr>
            <p:ph type="title"/>
          </p:nvPr>
        </p:nvSpPr>
        <p:spPr>
          <a:xfrm>
            <a:off x="311700" y="1474833"/>
            <a:ext cx="8520600" cy="26181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endParaRPr/>
          </a:p>
        </p:txBody>
      </p:sp>
      <p:sp>
        <p:nvSpPr>
          <p:cNvPr id="93" name="Shape 93"/>
          <p:cNvSpPr txBox="1">
            <a:spLocks noGrp="1"/>
          </p:cNvSpPr>
          <p:nvPr>
            <p:ph type="body" idx="1"/>
          </p:nvPr>
        </p:nvSpPr>
        <p:spPr>
          <a:xfrm>
            <a:off x="311700" y="4202967"/>
            <a:ext cx="8520600" cy="1734300"/>
          </a:xfrm>
          <a:prstGeom prst="rect">
            <a:avLst/>
          </a:prstGeom>
        </p:spPr>
        <p:txBody>
          <a:bodyPr spcFirstLastPara="1" wrap="square" lIns="91425" tIns="91425" rIns="91425" bIns="91425" anchor="t" anchorCtr="0"/>
          <a:lstStyle>
            <a:lvl1pPr marL="457200" lvl="0" indent="-368300" algn="ctr">
              <a:spcBef>
                <a:spcPts val="0"/>
              </a:spcBef>
              <a:spcAft>
                <a:spcPts val="0"/>
              </a:spcAft>
              <a:buSzPts val="2200"/>
              <a:buChar char="●"/>
              <a:defRPr/>
            </a:lvl1pPr>
            <a:lvl2pPr marL="914400" lvl="1" indent="-342900" algn="ctr">
              <a:spcBef>
                <a:spcPts val="600"/>
              </a:spcBef>
              <a:spcAft>
                <a:spcPts val="0"/>
              </a:spcAft>
              <a:buSzPts val="1800"/>
              <a:buChar char="○"/>
              <a:defRPr/>
            </a:lvl2pPr>
            <a:lvl3pPr marL="1371600" lvl="2" indent="-342900" algn="ctr">
              <a:spcBef>
                <a:spcPts val="600"/>
              </a:spcBef>
              <a:spcAft>
                <a:spcPts val="0"/>
              </a:spcAft>
              <a:buSzPts val="1800"/>
              <a:buChar char="■"/>
              <a:defRPr/>
            </a:lvl3pPr>
            <a:lvl4pPr marL="1828800" lvl="3" indent="-342900" algn="ctr">
              <a:spcBef>
                <a:spcPts val="600"/>
              </a:spcBef>
              <a:spcAft>
                <a:spcPts val="0"/>
              </a:spcAft>
              <a:buSzPts val="1800"/>
              <a:buChar char="●"/>
              <a:defRPr/>
            </a:lvl4pPr>
            <a:lvl5pPr marL="2286000" lvl="4" indent="-342900" algn="ctr">
              <a:spcBef>
                <a:spcPts val="600"/>
              </a:spcBef>
              <a:spcAft>
                <a:spcPts val="0"/>
              </a:spcAft>
              <a:buSzPts val="1800"/>
              <a:buChar char="○"/>
              <a:defRPr/>
            </a:lvl5pPr>
            <a:lvl6pPr marL="2743200" lvl="5" indent="-342900" algn="ctr">
              <a:spcBef>
                <a:spcPts val="600"/>
              </a:spcBef>
              <a:spcAft>
                <a:spcPts val="0"/>
              </a:spcAft>
              <a:buSzPts val="1800"/>
              <a:buChar char="■"/>
              <a:defRPr/>
            </a:lvl6pPr>
            <a:lvl7pPr marL="3200400" lvl="6" indent="-342900" algn="ctr">
              <a:spcBef>
                <a:spcPts val="600"/>
              </a:spcBef>
              <a:spcAft>
                <a:spcPts val="0"/>
              </a:spcAft>
              <a:buSzPts val="1800"/>
              <a:buChar char="●"/>
              <a:defRPr/>
            </a:lvl7pPr>
            <a:lvl8pPr marL="3657600" lvl="7" indent="-342900" algn="ctr">
              <a:spcBef>
                <a:spcPts val="600"/>
              </a:spcBef>
              <a:spcAft>
                <a:spcPts val="0"/>
              </a:spcAft>
              <a:buSzPts val="1800"/>
              <a:buChar char="○"/>
              <a:defRPr/>
            </a:lvl8pPr>
            <a:lvl9pPr marL="4114800" lvl="8" indent="-342900" algn="ctr">
              <a:spcBef>
                <a:spcPts val="600"/>
              </a:spcBef>
              <a:spcAft>
                <a:spcPts val="600"/>
              </a:spcAft>
              <a:buSzPts val="1800"/>
              <a:buChar char="■"/>
              <a:defRPr/>
            </a:lvl9pPr>
          </a:lstStyle>
          <a:p>
            <a:endParaRPr/>
          </a:p>
        </p:txBody>
      </p:sp>
      <p:sp>
        <p:nvSpPr>
          <p:cNvPr id="94" name="Shape 9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95" name="Shape 95"/>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6" name="Shape 96"/>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97" name="Shape 97"/>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8" name="Shape 98"/>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9" name="Shape 99"/>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0"/>
        <p:cNvGrpSpPr/>
        <p:nvPr/>
      </p:nvGrpSpPr>
      <p:grpSpPr>
        <a:xfrm>
          <a:off x="0" y="0"/>
          <a:ext cx="0" cy="0"/>
          <a:chOff x="0" y="0"/>
          <a:chExt cx="0" cy="0"/>
        </a:xfrm>
      </p:grpSpPr>
      <p:sp>
        <p:nvSpPr>
          <p:cNvPr id="101" name="Shape 10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102" name="Shape 102"/>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3" name="Shape 103"/>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104" name="Shape 104"/>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5" name="Shape 105"/>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6" name="Shape 106"/>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lstStyle>
            <a:lvl1pPr lvl="0">
              <a:spcBef>
                <a:spcPts val="0"/>
              </a:spcBef>
              <a:spcAft>
                <a:spcPts val="0"/>
              </a:spcAft>
              <a:buSzPts val="2800"/>
              <a:buFont typeface="Archivo Narrow"/>
              <a:buNone/>
              <a:defRPr sz="2800" b="1">
                <a:latin typeface="Archivo Narrow"/>
                <a:ea typeface="Archivo Narrow"/>
                <a:cs typeface="Archivo Narrow"/>
                <a:sym typeface="Archivo Narrow"/>
              </a:defRPr>
            </a:lvl1pPr>
            <a:lvl2pPr lvl="1">
              <a:spcBef>
                <a:spcPts val="0"/>
              </a:spcBef>
              <a:spcAft>
                <a:spcPts val="0"/>
              </a:spcAft>
              <a:buSzPts val="2800"/>
              <a:buFont typeface="Archivo Narrow"/>
              <a:buNone/>
              <a:defRPr sz="2800" b="1">
                <a:latin typeface="Archivo Narrow"/>
                <a:ea typeface="Archivo Narrow"/>
                <a:cs typeface="Archivo Narrow"/>
                <a:sym typeface="Archivo Narrow"/>
              </a:defRPr>
            </a:lvl2pPr>
            <a:lvl3pPr lvl="2">
              <a:spcBef>
                <a:spcPts val="0"/>
              </a:spcBef>
              <a:spcAft>
                <a:spcPts val="0"/>
              </a:spcAft>
              <a:buSzPts val="2800"/>
              <a:buFont typeface="Archivo Narrow"/>
              <a:buNone/>
              <a:defRPr sz="2800" b="1">
                <a:latin typeface="Archivo Narrow"/>
                <a:ea typeface="Archivo Narrow"/>
                <a:cs typeface="Archivo Narrow"/>
                <a:sym typeface="Archivo Narrow"/>
              </a:defRPr>
            </a:lvl3pPr>
            <a:lvl4pPr lvl="3">
              <a:spcBef>
                <a:spcPts val="0"/>
              </a:spcBef>
              <a:spcAft>
                <a:spcPts val="0"/>
              </a:spcAft>
              <a:buSzPts val="2800"/>
              <a:buFont typeface="Archivo Narrow"/>
              <a:buNone/>
              <a:defRPr sz="2800" b="1">
                <a:latin typeface="Archivo Narrow"/>
                <a:ea typeface="Archivo Narrow"/>
                <a:cs typeface="Archivo Narrow"/>
                <a:sym typeface="Archivo Narrow"/>
              </a:defRPr>
            </a:lvl4pPr>
            <a:lvl5pPr lvl="4">
              <a:spcBef>
                <a:spcPts val="0"/>
              </a:spcBef>
              <a:spcAft>
                <a:spcPts val="0"/>
              </a:spcAft>
              <a:buSzPts val="2800"/>
              <a:buFont typeface="Archivo Narrow"/>
              <a:buNone/>
              <a:defRPr sz="2800" b="1">
                <a:latin typeface="Archivo Narrow"/>
                <a:ea typeface="Archivo Narrow"/>
                <a:cs typeface="Archivo Narrow"/>
                <a:sym typeface="Archivo Narrow"/>
              </a:defRPr>
            </a:lvl5pPr>
            <a:lvl6pPr lvl="5">
              <a:spcBef>
                <a:spcPts val="0"/>
              </a:spcBef>
              <a:spcAft>
                <a:spcPts val="0"/>
              </a:spcAft>
              <a:buSzPts val="2800"/>
              <a:buFont typeface="Archivo Narrow"/>
              <a:buNone/>
              <a:defRPr sz="2800" b="1">
                <a:latin typeface="Archivo Narrow"/>
                <a:ea typeface="Archivo Narrow"/>
                <a:cs typeface="Archivo Narrow"/>
                <a:sym typeface="Archivo Narrow"/>
              </a:defRPr>
            </a:lvl6pPr>
            <a:lvl7pPr lvl="6">
              <a:spcBef>
                <a:spcPts val="0"/>
              </a:spcBef>
              <a:spcAft>
                <a:spcPts val="0"/>
              </a:spcAft>
              <a:buSzPts val="2800"/>
              <a:buFont typeface="Archivo Narrow"/>
              <a:buNone/>
              <a:defRPr sz="2800" b="1">
                <a:latin typeface="Archivo Narrow"/>
                <a:ea typeface="Archivo Narrow"/>
                <a:cs typeface="Archivo Narrow"/>
                <a:sym typeface="Archivo Narrow"/>
              </a:defRPr>
            </a:lvl7pPr>
            <a:lvl8pPr lvl="7">
              <a:spcBef>
                <a:spcPts val="0"/>
              </a:spcBef>
              <a:spcAft>
                <a:spcPts val="0"/>
              </a:spcAft>
              <a:buSzPts val="2800"/>
              <a:buFont typeface="Archivo Narrow"/>
              <a:buNone/>
              <a:defRPr sz="2800" b="1">
                <a:latin typeface="Archivo Narrow"/>
                <a:ea typeface="Archivo Narrow"/>
                <a:cs typeface="Archivo Narrow"/>
                <a:sym typeface="Archivo Narrow"/>
              </a:defRPr>
            </a:lvl8pPr>
            <a:lvl9pPr lvl="8">
              <a:spcBef>
                <a:spcPts val="0"/>
              </a:spcBef>
              <a:spcAft>
                <a:spcPts val="0"/>
              </a:spcAft>
              <a:buSzPts val="2800"/>
              <a:buFont typeface="Archivo Narrow"/>
              <a:buNone/>
              <a:defRPr sz="2800" b="1">
                <a:latin typeface="Archivo Narrow"/>
                <a:ea typeface="Archivo Narrow"/>
                <a:cs typeface="Archivo Narrow"/>
                <a:sym typeface="Archivo Narrow"/>
              </a:defRPr>
            </a:lvl9pPr>
          </a:lstStyle>
          <a:p>
            <a:endParaRPr/>
          </a:p>
        </p:txBody>
      </p:sp>
      <p:sp>
        <p:nvSpPr>
          <p:cNvPr id="7" name="Shape 7"/>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lstStyle>
            <a:lvl1pPr marL="457200" lvl="0" indent="-368300">
              <a:lnSpc>
                <a:spcPct val="100000"/>
              </a:lnSpc>
              <a:spcBef>
                <a:spcPts val="0"/>
              </a:spcBef>
              <a:spcAft>
                <a:spcPts val="0"/>
              </a:spcAft>
              <a:buSzPts val="2200"/>
              <a:buFont typeface="Archivo Narrow"/>
              <a:buChar char="●"/>
              <a:defRPr sz="2200">
                <a:latin typeface="Archivo Narrow"/>
                <a:ea typeface="Archivo Narrow"/>
                <a:cs typeface="Archivo Narrow"/>
                <a:sym typeface="Archivo Narrow"/>
              </a:defRPr>
            </a:lvl1pPr>
            <a:lvl2pPr marL="914400" lvl="1"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2pPr>
            <a:lvl3pPr marL="1371600" lvl="2"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3pPr>
            <a:lvl4pPr marL="1828800" lvl="3"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4pPr>
            <a:lvl5pPr marL="2286000" lvl="4"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5pPr>
            <a:lvl6pPr marL="2743200" lvl="5"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6pPr>
            <a:lvl7pPr marL="3200400" lvl="6"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7pPr>
            <a:lvl8pPr marL="3657600" lvl="7"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8pPr>
            <a:lvl9pPr marL="4114800" lvl="8" indent="-342900">
              <a:lnSpc>
                <a:spcPct val="100000"/>
              </a:lnSpc>
              <a:spcBef>
                <a:spcPts val="600"/>
              </a:spcBef>
              <a:spcAft>
                <a:spcPts val="600"/>
              </a:spcAft>
              <a:buSzPts val="1800"/>
              <a:buFont typeface="Archivo Narrow"/>
              <a:buChar char="■"/>
              <a:defRPr sz="1800">
                <a:latin typeface="Archivo Narrow"/>
                <a:ea typeface="Archivo Narrow"/>
                <a:cs typeface="Archivo Narrow"/>
                <a:sym typeface="Archivo Narrow"/>
              </a:defRPr>
            </a:lvl9pPr>
          </a:lstStyle>
          <a:p>
            <a:endParaRPr/>
          </a:p>
        </p:txBody>
      </p:sp>
      <p:sp>
        <p:nvSpPr>
          <p:cNvPr id="8" name="Shape 8"/>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Shape 111"/>
          <p:cNvSpPr txBox="1">
            <a:spLocks noGrp="1"/>
          </p:cNvSpPr>
          <p:nvPr>
            <p:ph type="ctrTitle"/>
          </p:nvPr>
        </p:nvSpPr>
        <p:spPr>
          <a:xfrm>
            <a:off x="311700" y="1325720"/>
            <a:ext cx="8520600" cy="1714800"/>
          </a:xfrm>
          <a:prstGeom prst="rect">
            <a:avLst/>
          </a:prstGeom>
        </p:spPr>
        <p:txBody>
          <a:bodyPr spcFirstLastPara="1" wrap="square" lIns="91425" tIns="91425" rIns="91425" bIns="91425" anchor="b" anchorCtr="0">
            <a:noAutofit/>
          </a:bodyPr>
          <a:lstStyle/>
          <a:p>
            <a:pPr lvl="0"/>
            <a:r>
              <a:rPr lang="en-IN" dirty="0">
                <a:latin typeface="Times New Roman" panose="02020603050405020304" pitchFamily="18" charset="0"/>
                <a:cs typeface="Times New Roman" panose="02020603050405020304" pitchFamily="18" charset="0"/>
              </a:rPr>
              <a:t>AGRIMITRA : AI-Powered Smart Farming Assistant</a:t>
            </a:r>
            <a:endParaRPr b="0" dirty="0">
              <a:latin typeface="Times New Roman" panose="02020603050405020304" pitchFamily="18" charset="0"/>
              <a:cs typeface="Times New Roman" panose="02020603050405020304" pitchFamily="18" charset="0"/>
            </a:endParaRPr>
          </a:p>
        </p:txBody>
      </p:sp>
      <p:sp>
        <p:nvSpPr>
          <p:cNvPr id="2" name="TextBox 1"/>
          <p:cNvSpPr txBox="1"/>
          <p:nvPr/>
        </p:nvSpPr>
        <p:spPr>
          <a:xfrm>
            <a:off x="3097161" y="4609362"/>
            <a:ext cx="5540151" cy="1477328"/>
          </a:xfrm>
          <a:prstGeom prst="rect">
            <a:avLst/>
          </a:prstGeom>
          <a:noFill/>
        </p:spPr>
        <p:txBody>
          <a:bodyPr wrap="square" rtlCol="0">
            <a:spAutoFit/>
          </a:bodyPr>
          <a:lstStyle/>
          <a:p>
            <a:r>
              <a:rPr lang="en-GB" sz="1800" b="1" dirty="0">
                <a:latin typeface="Times New Roman" panose="02020603050405020304" pitchFamily="18" charset="0"/>
                <a:cs typeface="Times New Roman" panose="02020603050405020304" pitchFamily="18" charset="0"/>
              </a:rPr>
              <a:t>Student Details :   </a:t>
            </a:r>
            <a:r>
              <a:rPr lang="en-IN" sz="1800" dirty="0" err="1">
                <a:latin typeface="Times New Roman" panose="02020603050405020304" pitchFamily="18" charset="0"/>
                <a:cs typeface="Times New Roman" panose="02020603050405020304" pitchFamily="18" charset="0"/>
              </a:rPr>
              <a:t>C.Niranjan</a:t>
            </a:r>
            <a:r>
              <a:rPr lang="en-IN" sz="1800" dirty="0">
                <a:latin typeface="Times New Roman" panose="02020603050405020304" pitchFamily="18" charset="0"/>
                <a:cs typeface="Times New Roman" panose="02020603050405020304" pitchFamily="18" charset="0"/>
              </a:rPr>
              <a:t> Reddy    (2362321),  	               Gowri Chandana P Nair  (2362330)</a:t>
            </a:r>
            <a:endParaRPr lang="en-GB" sz="1800" b="1" dirty="0">
              <a:latin typeface="Times New Roman" panose="02020603050405020304" pitchFamily="18" charset="0"/>
              <a:cs typeface="Times New Roman" panose="02020603050405020304" pitchFamily="18" charset="0"/>
            </a:endParaRPr>
          </a:p>
          <a:p>
            <a:r>
              <a:rPr lang="en-GB" sz="1800" b="1" dirty="0">
                <a:latin typeface="Times New Roman" panose="02020603050405020304" pitchFamily="18" charset="0"/>
                <a:cs typeface="Times New Roman" panose="02020603050405020304" pitchFamily="18" charset="0"/>
              </a:rPr>
              <a:t>Guided By         :  </a:t>
            </a:r>
            <a:r>
              <a:rPr lang="en-US" sz="1800" dirty="0" err="1">
                <a:latin typeface="Times New Roman" panose="02020603050405020304" pitchFamily="18" charset="0"/>
                <a:cs typeface="Times New Roman" panose="02020603050405020304" pitchFamily="18" charset="0"/>
              </a:rPr>
              <a:t>Prof.Vigneshwaran</a:t>
            </a:r>
            <a:r>
              <a:rPr lang="en-US" sz="1800" dirty="0">
                <a:latin typeface="Times New Roman" panose="02020603050405020304" pitchFamily="18" charset="0"/>
                <a:cs typeface="Times New Roman" panose="02020603050405020304" pitchFamily="18" charset="0"/>
              </a:rPr>
              <a:t> T</a:t>
            </a:r>
            <a:endParaRPr lang="en-IN" sz="1800" dirty="0">
              <a:latin typeface="Times New Roman" panose="02020603050405020304" pitchFamily="18" charset="0"/>
              <a:cs typeface="Times New Roman" panose="02020603050405020304" pitchFamily="18" charset="0"/>
            </a:endParaRPr>
          </a:p>
          <a:p>
            <a:endParaRPr lang="en-GB"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Shape 117"/>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IN" dirty="0">
                <a:latin typeface="Times New Roman" panose="02020603050405020304" pitchFamily="18" charset="0"/>
                <a:cs typeface="Times New Roman" panose="02020603050405020304" pitchFamily="18" charset="0"/>
              </a:rPr>
              <a:t>Agenda</a:t>
            </a:r>
            <a:endParaRPr dirty="0">
              <a:latin typeface="Times New Roman" panose="02020603050405020304" pitchFamily="18" charset="0"/>
              <a:cs typeface="Times New Roman" panose="02020603050405020304" pitchFamily="18" charset="0"/>
            </a:endParaRPr>
          </a:p>
        </p:txBody>
      </p:sp>
      <p:sp>
        <p:nvSpPr>
          <p:cNvPr id="118" name="Shape 118"/>
          <p:cNvSpPr txBox="1">
            <a:spLocks noGrp="1"/>
          </p:cNvSpPr>
          <p:nvPr>
            <p:ph type="body" idx="1"/>
          </p:nvPr>
        </p:nvSpPr>
        <p:spPr>
          <a:xfrm>
            <a:off x="382820" y="1435033"/>
            <a:ext cx="8520600" cy="4555200"/>
          </a:xfrm>
          <a:prstGeom prst="rect">
            <a:avLst/>
          </a:prstGeom>
        </p:spPr>
        <p:txBody>
          <a:bodyPr spcFirstLastPara="1" wrap="square" lIns="91425" tIns="91425" rIns="91425" bIns="91425" anchor="t" anchorCtr="0">
            <a:noAutofit/>
          </a:bodyPr>
          <a:lstStyle/>
          <a:p>
            <a:pPr lvl="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Abstract </a:t>
            </a:r>
          </a:p>
          <a:p>
            <a:pPr lvl="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Introduction </a:t>
            </a:r>
          </a:p>
          <a:p>
            <a:pPr lvl="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Literature Review</a:t>
            </a:r>
          </a:p>
          <a:p>
            <a:pPr lvl="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Gap identified</a:t>
            </a:r>
          </a:p>
          <a:p>
            <a:pPr lvl="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Problem statement</a:t>
            </a:r>
          </a:p>
          <a:p>
            <a:pPr lvl="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Proposed model</a:t>
            </a:r>
          </a:p>
          <a:p>
            <a:pPr lvl="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Design</a:t>
            </a:r>
          </a:p>
          <a:p>
            <a:pPr lvl="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Implementation</a:t>
            </a:r>
          </a:p>
          <a:p>
            <a:pPr lvl="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Result and discussion</a:t>
            </a:r>
          </a:p>
          <a:p>
            <a:pPr lvl="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Conclusion </a:t>
            </a:r>
          </a:p>
          <a:p>
            <a:pPr lvl="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Future scope</a:t>
            </a:r>
          </a:p>
          <a:p>
            <a:pPr lvl="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Reference </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Abstract</a:t>
            </a:r>
          </a:p>
        </p:txBody>
      </p:sp>
      <p:sp>
        <p:nvSpPr>
          <p:cNvPr id="3" name="Text Placeholder 2"/>
          <p:cNvSpPr>
            <a:spLocks noGrp="1"/>
          </p:cNvSpPr>
          <p:nvPr>
            <p:ph type="body" idx="1"/>
          </p:nvPr>
        </p:nvSpPr>
        <p:spPr>
          <a:xfrm>
            <a:off x="390358" y="1356867"/>
            <a:ext cx="8520600" cy="4758184"/>
          </a:xfrm>
        </p:spPr>
        <p:txBody>
          <a:bodyPr/>
          <a:lstStyle/>
          <a:p>
            <a:pPr marL="88900" indent="0" algn="just">
              <a:lnSpc>
                <a:spcPct val="150000"/>
              </a:lnSpc>
              <a:buNone/>
            </a:pPr>
            <a:r>
              <a:rPr lang="en-IN" sz="1700" dirty="0" err="1">
                <a:latin typeface="Times New Roman" panose="02020603050405020304" pitchFamily="18" charset="0"/>
                <a:cs typeface="Times New Roman" panose="02020603050405020304" pitchFamily="18" charset="0"/>
              </a:rPr>
              <a:t>AgriMitra</a:t>
            </a:r>
            <a:r>
              <a:rPr lang="en-IN" sz="1700" dirty="0">
                <a:latin typeface="Times New Roman" panose="02020603050405020304" pitchFamily="18" charset="0"/>
                <a:cs typeface="Times New Roman" panose="02020603050405020304" pitchFamily="18" charset="0"/>
              </a:rPr>
              <a:t> is an AI-powered smart farming assistant designed to provide personalized agricultural support to farmers. The platform integrates IoT-based environmental monitoring, weather data, intelligent irrigation recommendations, machine learning-based crop recommendation and rotation planning, crop price prediction, and an AI-powered agricultural assistant. Real-time farm context such as soil moisture, temperature, humidity, crop growth stage, weather conditions, and irrigation status is used to generate personalized recommendations. The platform also supports multilingual AI interaction through voice input and output, making agricultural guidance more accessible to farmers.</a:t>
            </a:r>
          </a:p>
        </p:txBody>
      </p:sp>
    </p:spTree>
    <p:extLst>
      <p:ext uri="{BB962C8B-B14F-4D97-AF65-F5344CB8AC3E}">
        <p14:creationId xmlns:p14="http://schemas.microsoft.com/office/powerpoint/2010/main" val="1122118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A7AD6-BD1C-49DA-EC6A-5C177E10F1F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a16="http://schemas.microsoft.com/office/drawing/2014/main" id="{AFD5B032-3EE6-9E8E-5E21-57A9BCC623BB}"/>
              </a:ext>
            </a:extLst>
          </p:cNvPr>
          <p:cNvSpPr>
            <a:spLocks noGrp="1"/>
          </p:cNvSpPr>
          <p:nvPr>
            <p:ph type="body" idx="1"/>
          </p:nvPr>
        </p:nvSpPr>
        <p:spPr/>
        <p:txBody>
          <a:bodyPr/>
          <a:lstStyle/>
          <a:p>
            <a:pPr lvl="0"/>
            <a:r>
              <a:rPr lang="en-IN" sz="1700" dirty="0">
                <a:latin typeface="Times New Roman" panose="02020603050405020304" pitchFamily="18" charset="0"/>
                <a:cs typeface="Times New Roman" panose="02020603050405020304" pitchFamily="18" charset="0"/>
              </a:rPr>
              <a:t>Agriculture remains the primary livelihood for a large share of India’s rural population, yet most smallholder farmers still rely on manual observation rather than real-time data for irrigation, crop selection, and market decisions. </a:t>
            </a:r>
          </a:p>
          <a:p>
            <a:pPr marL="88900" lvl="0" indent="0">
              <a:buNone/>
            </a:pPr>
            <a:endParaRPr lang="en-IN" sz="1700" dirty="0">
              <a:latin typeface="Times New Roman" panose="02020603050405020304" pitchFamily="18" charset="0"/>
              <a:cs typeface="Times New Roman" panose="02020603050405020304" pitchFamily="18" charset="0"/>
            </a:endParaRPr>
          </a:p>
          <a:p>
            <a:pPr lvl="0"/>
            <a:r>
              <a:rPr lang="en-IN" sz="1700" dirty="0">
                <a:latin typeface="Times New Roman" panose="02020603050405020304" pitchFamily="18" charset="0"/>
                <a:cs typeface="Times New Roman" panose="02020603050405020304" pitchFamily="18" charset="0"/>
              </a:rPr>
              <a:t>Existing smart-irrigation systems, reviewed in the next section, automate watering but stop short of combining sensor data with AI-driven crop guidance, price forecasting, and natural-language interaction. </a:t>
            </a:r>
          </a:p>
          <a:p>
            <a:pPr marL="88900" lvl="0" indent="0">
              <a:buNone/>
            </a:pPr>
            <a:endParaRPr lang="en-IN" sz="1700" dirty="0">
              <a:latin typeface="Times New Roman" panose="02020603050405020304" pitchFamily="18" charset="0"/>
              <a:cs typeface="Times New Roman" panose="02020603050405020304" pitchFamily="18" charset="0"/>
            </a:endParaRPr>
          </a:p>
          <a:p>
            <a:pPr lvl="0"/>
            <a:r>
              <a:rPr lang="en-IN" sz="1700" dirty="0" err="1">
                <a:latin typeface="Times New Roman" panose="02020603050405020304" pitchFamily="18" charset="0"/>
                <a:cs typeface="Times New Roman" panose="02020603050405020304" pitchFamily="18" charset="0"/>
              </a:rPr>
              <a:t>AgriMitra</a:t>
            </a:r>
            <a:r>
              <a:rPr lang="en-IN" sz="1700" dirty="0">
                <a:latin typeface="Times New Roman" panose="02020603050405020304" pitchFamily="18" charset="0"/>
                <a:cs typeface="Times New Roman" panose="02020603050405020304" pitchFamily="18" charset="0"/>
              </a:rPr>
              <a:t> is proposed as an AI-powered, multilingual farming assistant that unifies IoT-based environmental monitoring, machine-learning crop and irrigation recommendations, image-based price prediction, and a voice-enabled conversational assistant into a single platform. </a:t>
            </a:r>
          </a:p>
          <a:p>
            <a:pPr marL="88900" indent="0">
              <a:buNone/>
            </a:pP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9410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4BCD-7949-D29C-7D4B-BEA7CE51028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Review</a:t>
            </a:r>
          </a:p>
        </p:txBody>
      </p:sp>
      <p:sp>
        <p:nvSpPr>
          <p:cNvPr id="3" name="Text Placeholder 2">
            <a:extLst>
              <a:ext uri="{FF2B5EF4-FFF2-40B4-BE49-F238E27FC236}">
                <a16:creationId xmlns:a16="http://schemas.microsoft.com/office/drawing/2014/main" id="{21F2AC2A-F5D7-F5DC-5D56-53D8CBAA9DC3}"/>
              </a:ext>
            </a:extLst>
          </p:cNvPr>
          <p:cNvSpPr>
            <a:spLocks noGrp="1"/>
          </p:cNvSpPr>
          <p:nvPr>
            <p:ph type="body" idx="1"/>
          </p:nvPr>
        </p:nvSpPr>
        <p:spPr>
          <a:xfrm>
            <a:off x="311700" y="1271162"/>
            <a:ext cx="8520600" cy="4555200"/>
          </a:xfrm>
        </p:spPr>
        <p:txBody>
          <a:bodyPr/>
          <a:lstStyle/>
          <a:p>
            <a:pPr marL="546100" lvl="0" indent="-457200">
              <a:buFont typeface="+mj-lt"/>
              <a:buAutoNum type="arabicParenR"/>
            </a:pPr>
            <a:r>
              <a:rPr lang="en-IN" sz="1700" b="1" dirty="0">
                <a:latin typeface="Times New Roman" panose="02020603050405020304" pitchFamily="18" charset="0"/>
                <a:cs typeface="Times New Roman" panose="02020603050405020304" pitchFamily="18" charset="0"/>
              </a:rPr>
              <a:t>Darshana et al. (2025) – Smart Irrigation System</a:t>
            </a:r>
            <a:r>
              <a:rPr lang="en-IN" sz="1700" dirty="0">
                <a:latin typeface="Times New Roman" panose="02020603050405020304" pitchFamily="18" charset="0"/>
                <a:cs typeface="Times New Roman" panose="02020603050405020304" pitchFamily="18" charset="0"/>
              </a:rPr>
              <a:t> </a:t>
            </a:r>
          </a:p>
          <a:p>
            <a:pPr lvl="1"/>
            <a:r>
              <a:rPr lang="en-IN" sz="1700" dirty="0">
                <a:latin typeface="Times New Roman" panose="02020603050405020304" pitchFamily="18" charset="0"/>
                <a:cs typeface="Times New Roman" panose="02020603050405020304" pitchFamily="18" charset="0"/>
              </a:rPr>
              <a:t>Uses soil moisture sensors, temperature sensor, relay, and Arduino/Node-based automatic pump control. </a:t>
            </a:r>
          </a:p>
          <a:p>
            <a:pPr lvl="1"/>
            <a:r>
              <a:rPr lang="en-IN" sz="1700" dirty="0">
                <a:latin typeface="Times New Roman" panose="02020603050405020304" pitchFamily="18" charset="0"/>
                <a:cs typeface="Times New Roman" panose="02020603050405020304" pitchFamily="18" charset="0"/>
              </a:rPr>
              <a:t>Advantage: Reduces water wastage and enables irrigation. </a:t>
            </a:r>
          </a:p>
          <a:p>
            <a:pPr lvl="1"/>
            <a:r>
              <a:rPr lang="en-IN" sz="1700" dirty="0">
                <a:latin typeface="Times New Roman" panose="02020603050405020304" pitchFamily="18" charset="0"/>
                <a:cs typeface="Times New Roman" panose="02020603050405020304" pitchFamily="18" charset="0"/>
              </a:rPr>
              <a:t>Limitation: No IoT connectivity, no remote monitoring, no AI support. </a:t>
            </a:r>
          </a:p>
          <a:p>
            <a:pPr marL="546100" lvl="0" indent="-457200">
              <a:buFont typeface="+mj-lt"/>
              <a:buAutoNum type="arabicParenR"/>
            </a:pPr>
            <a:r>
              <a:rPr lang="en-IN" sz="1700" b="1" dirty="0">
                <a:latin typeface="Times New Roman" panose="02020603050405020304" pitchFamily="18" charset="0"/>
                <a:cs typeface="Times New Roman" panose="02020603050405020304" pitchFamily="18" charset="0"/>
              </a:rPr>
              <a:t>El </a:t>
            </a:r>
            <a:r>
              <a:rPr lang="en-IN" sz="1700" b="1" dirty="0" err="1">
                <a:latin typeface="Times New Roman" panose="02020603050405020304" pitchFamily="18" charset="0"/>
                <a:cs typeface="Times New Roman" panose="02020603050405020304" pitchFamily="18" charset="0"/>
              </a:rPr>
              <a:t>Mezouari</a:t>
            </a:r>
            <a:r>
              <a:rPr lang="en-IN" sz="1700" b="1" dirty="0">
                <a:latin typeface="Times New Roman" panose="02020603050405020304" pitchFamily="18" charset="0"/>
                <a:cs typeface="Times New Roman" panose="02020603050405020304" pitchFamily="18" charset="0"/>
              </a:rPr>
              <a:t> et al. (2022) – Smart Irrigation System</a:t>
            </a:r>
            <a:r>
              <a:rPr lang="en-IN" sz="1700" dirty="0">
                <a:latin typeface="Times New Roman" panose="02020603050405020304" pitchFamily="18" charset="0"/>
                <a:cs typeface="Times New Roman" panose="02020603050405020304" pitchFamily="18" charset="0"/>
              </a:rPr>
              <a:t> </a:t>
            </a:r>
          </a:p>
          <a:p>
            <a:pPr lvl="1"/>
            <a:r>
              <a:rPr lang="en-IN" sz="1700" dirty="0">
                <a:latin typeface="Times New Roman" panose="02020603050405020304" pitchFamily="18" charset="0"/>
                <a:cs typeface="Times New Roman" panose="02020603050405020304" pitchFamily="18" charset="0"/>
              </a:rPr>
              <a:t>Uses Arduino UNO, soil moisture sensor, temperature sensor, water-level sensor, and relay for automatic irrigation. </a:t>
            </a:r>
          </a:p>
          <a:p>
            <a:pPr lvl="1"/>
            <a:r>
              <a:rPr lang="en-IN" sz="1700" dirty="0">
                <a:latin typeface="Times New Roman" panose="02020603050405020304" pitchFamily="18" charset="0"/>
                <a:cs typeface="Times New Roman" panose="02020603050405020304" pitchFamily="18" charset="0"/>
              </a:rPr>
              <a:t>Advantage: Efficient water usage and automatic monitoring. </a:t>
            </a:r>
          </a:p>
          <a:p>
            <a:pPr lvl="1"/>
            <a:r>
              <a:rPr lang="en-IN" sz="1700" dirty="0">
                <a:latin typeface="Times New Roman" panose="02020603050405020304" pitchFamily="18" charset="0"/>
                <a:cs typeface="Times New Roman" panose="02020603050405020304" pitchFamily="18" charset="0"/>
              </a:rPr>
              <a:t>Limitation: Relies on serial communication and lacks cloud connectivity/intelligent decision-making. </a:t>
            </a:r>
          </a:p>
          <a:p>
            <a:pPr marL="603250" lvl="0" indent="-514350">
              <a:buFont typeface="+mj-lt"/>
              <a:buAutoNum type="arabicParenR"/>
            </a:pPr>
            <a:r>
              <a:rPr lang="en-IN" sz="1700" b="1" dirty="0" err="1">
                <a:latin typeface="Times New Roman" panose="02020603050405020304" pitchFamily="18" charset="0"/>
                <a:cs typeface="Times New Roman" panose="02020603050405020304" pitchFamily="18" charset="0"/>
              </a:rPr>
              <a:t>Badreideen</a:t>
            </a:r>
            <a:r>
              <a:rPr lang="en-IN" sz="1700" b="1" dirty="0">
                <a:latin typeface="Times New Roman" panose="02020603050405020304" pitchFamily="18" charset="0"/>
                <a:cs typeface="Times New Roman" panose="02020603050405020304" pitchFamily="18" charset="0"/>
              </a:rPr>
              <a:t> et al. (2022) – IoT-Based Smart Irrigation System</a:t>
            </a:r>
            <a:r>
              <a:rPr lang="en-IN" sz="1700" dirty="0">
                <a:latin typeface="Times New Roman" panose="02020603050405020304" pitchFamily="18" charset="0"/>
                <a:cs typeface="Times New Roman" panose="02020603050405020304" pitchFamily="18" charset="0"/>
              </a:rPr>
              <a:t> </a:t>
            </a:r>
          </a:p>
          <a:p>
            <a:pPr lvl="1"/>
            <a:r>
              <a:rPr lang="en-IN" sz="1700" dirty="0">
                <a:latin typeface="Times New Roman" panose="02020603050405020304" pitchFamily="18" charset="0"/>
                <a:cs typeface="Times New Roman" panose="02020603050405020304" pitchFamily="18" charset="0"/>
              </a:rPr>
              <a:t>Uses soil moisture, temperature, humidity, rain sensors, along with IoT connectivity/mobile application. </a:t>
            </a:r>
          </a:p>
          <a:p>
            <a:pPr lvl="1"/>
            <a:r>
              <a:rPr lang="en-IN" sz="1700" dirty="0">
                <a:latin typeface="Times New Roman" panose="02020603050405020304" pitchFamily="18" charset="0"/>
                <a:cs typeface="Times New Roman" panose="02020603050405020304" pitchFamily="18" charset="0"/>
              </a:rPr>
              <a:t>Advantage: Real-time monitoring, remote control, and weather-related information. </a:t>
            </a:r>
          </a:p>
          <a:p>
            <a:pPr lvl="1"/>
            <a:r>
              <a:rPr lang="en-IN" sz="1700" dirty="0">
                <a:latin typeface="Times New Roman" panose="02020603050405020304" pitchFamily="18" charset="0"/>
                <a:cs typeface="Times New Roman" panose="02020603050405020304" pitchFamily="18" charset="0"/>
              </a:rPr>
              <a:t>Limitation: No AI assistant or multilingual voice interaction.</a:t>
            </a:r>
          </a:p>
          <a:p>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3637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8DD69-7EDA-2F16-CE89-06A68CB9F1C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Gap Identified</a:t>
            </a:r>
          </a:p>
        </p:txBody>
      </p:sp>
      <p:sp>
        <p:nvSpPr>
          <p:cNvPr id="3" name="Text Placeholder 2">
            <a:extLst>
              <a:ext uri="{FF2B5EF4-FFF2-40B4-BE49-F238E27FC236}">
                <a16:creationId xmlns:a16="http://schemas.microsoft.com/office/drawing/2014/main" id="{7C407A5A-61BA-5F5C-6D38-B95A6D2A373B}"/>
              </a:ext>
            </a:extLst>
          </p:cNvPr>
          <p:cNvSpPr>
            <a:spLocks noGrp="1"/>
          </p:cNvSpPr>
          <p:nvPr>
            <p:ph type="body" idx="1"/>
          </p:nvPr>
        </p:nvSpPr>
        <p:spPr/>
        <p:txBody>
          <a:bodyPr/>
          <a:lstStyle/>
          <a:p>
            <a:pPr lvl="0"/>
            <a:r>
              <a:rPr lang="en-IN" sz="1700" b="1" dirty="0">
                <a:latin typeface="Times New Roman" panose="02020603050405020304" pitchFamily="18" charset="0"/>
                <a:cs typeface="Times New Roman" panose="02020603050405020304" pitchFamily="18" charset="0"/>
              </a:rPr>
              <a:t>Sensor-and-relay-based systems (Darshna et al., 2025)</a:t>
            </a:r>
            <a:r>
              <a:rPr lang="en-IN" sz="1700" dirty="0">
                <a:latin typeface="Times New Roman" panose="02020603050405020304" pitchFamily="18" charset="0"/>
                <a:cs typeface="Times New Roman" panose="02020603050405020304" pitchFamily="18" charset="0"/>
              </a:rPr>
              <a:t> automate irrigation but provide no IoT connectivity, remote monitoring, or AI support. </a:t>
            </a:r>
          </a:p>
          <a:p>
            <a:pPr marL="88900" lvl="0" indent="0">
              <a:buNone/>
            </a:pPr>
            <a:endParaRPr lang="en-IN" sz="1700" dirty="0">
              <a:latin typeface="Times New Roman" panose="02020603050405020304" pitchFamily="18" charset="0"/>
              <a:cs typeface="Times New Roman" panose="02020603050405020304" pitchFamily="18" charset="0"/>
            </a:endParaRPr>
          </a:p>
          <a:p>
            <a:pPr lvl="0"/>
            <a:r>
              <a:rPr lang="en-IN" sz="1700" b="1" dirty="0">
                <a:latin typeface="Times New Roman" panose="02020603050405020304" pitchFamily="18" charset="0"/>
                <a:cs typeface="Times New Roman" panose="02020603050405020304" pitchFamily="18" charset="0"/>
              </a:rPr>
              <a:t>Arduino-based systems with local sensing (El </a:t>
            </a:r>
            <a:r>
              <a:rPr lang="en-IN" sz="1700" b="1" dirty="0" err="1">
                <a:latin typeface="Times New Roman" panose="02020603050405020304" pitchFamily="18" charset="0"/>
                <a:cs typeface="Times New Roman" panose="02020603050405020304" pitchFamily="18" charset="0"/>
              </a:rPr>
              <a:t>Mezouari</a:t>
            </a:r>
            <a:r>
              <a:rPr lang="en-IN" sz="1700" b="1" dirty="0">
                <a:latin typeface="Times New Roman" panose="02020603050405020304" pitchFamily="18" charset="0"/>
                <a:cs typeface="Times New Roman" panose="02020603050405020304" pitchFamily="18" charset="0"/>
              </a:rPr>
              <a:t> et al., 2022)</a:t>
            </a:r>
            <a:r>
              <a:rPr lang="en-IN" sz="1700" dirty="0">
                <a:latin typeface="Times New Roman" panose="02020603050405020304" pitchFamily="18" charset="0"/>
                <a:cs typeface="Times New Roman" panose="02020603050405020304" pitchFamily="18" charset="0"/>
              </a:rPr>
              <a:t> rely on serial communication only, lacking cloud connectivity and intelligent decision-making. </a:t>
            </a:r>
          </a:p>
          <a:p>
            <a:pPr marL="88900" lvl="0" indent="0">
              <a:buNone/>
            </a:pPr>
            <a:endParaRPr lang="en-IN" sz="1700" dirty="0">
              <a:latin typeface="Times New Roman" panose="02020603050405020304" pitchFamily="18" charset="0"/>
              <a:cs typeface="Times New Roman" panose="02020603050405020304" pitchFamily="18" charset="0"/>
            </a:endParaRPr>
          </a:p>
          <a:p>
            <a:pPr lvl="0"/>
            <a:r>
              <a:rPr lang="en-IN" sz="1700" b="1" dirty="0">
                <a:latin typeface="Times New Roman" panose="02020603050405020304" pitchFamily="18" charset="0"/>
                <a:cs typeface="Times New Roman" panose="02020603050405020304" pitchFamily="18" charset="0"/>
              </a:rPr>
              <a:t>IoT-enabled systems (</a:t>
            </a:r>
            <a:r>
              <a:rPr lang="en-IN" sz="1700" b="1" dirty="0" err="1">
                <a:latin typeface="Times New Roman" panose="02020603050405020304" pitchFamily="18" charset="0"/>
                <a:cs typeface="Times New Roman" panose="02020603050405020304" pitchFamily="18" charset="0"/>
              </a:rPr>
              <a:t>Badreideen</a:t>
            </a:r>
            <a:r>
              <a:rPr lang="en-IN" sz="1700" b="1" dirty="0">
                <a:latin typeface="Times New Roman" panose="02020603050405020304" pitchFamily="18" charset="0"/>
                <a:cs typeface="Times New Roman" panose="02020603050405020304" pitchFamily="18" charset="0"/>
              </a:rPr>
              <a:t> et al., 2022)</a:t>
            </a:r>
            <a:r>
              <a:rPr lang="en-IN" sz="1700" dirty="0">
                <a:latin typeface="Times New Roman" panose="02020603050405020304" pitchFamily="18" charset="0"/>
                <a:cs typeface="Times New Roman" panose="02020603050405020304" pitchFamily="18" charset="0"/>
              </a:rPr>
              <a:t> add real-time monitoring and remote control but still offer no AI assistant or multilingual voice interaction for farmers.</a:t>
            </a:r>
          </a:p>
          <a:p>
            <a:pPr marL="88900" lvl="0" indent="0">
              <a:buNone/>
            </a:pPr>
            <a:r>
              <a:rPr lang="en-IN" sz="1700" dirty="0">
                <a:latin typeface="Times New Roman" panose="02020603050405020304" pitchFamily="18" charset="0"/>
                <a:cs typeface="Times New Roman" panose="02020603050405020304" pitchFamily="18" charset="0"/>
              </a:rPr>
              <a:t> </a:t>
            </a:r>
          </a:p>
          <a:p>
            <a:pPr lvl="0"/>
            <a:r>
              <a:rPr lang="en-IN" sz="1700" b="1" dirty="0">
                <a:latin typeface="Times New Roman" panose="02020603050405020304" pitchFamily="18" charset="0"/>
                <a:cs typeface="Times New Roman" panose="02020603050405020304" pitchFamily="18" charset="0"/>
              </a:rPr>
              <a:t>No reviewed system combines IoT sensing, ML-based crop and irrigation intelligence, image-based price prediction, and multilingual voice assistance in one accessible platform</a:t>
            </a:r>
            <a:r>
              <a:rPr lang="en-IN" sz="1700" dirty="0">
                <a:latin typeface="Times New Roman" panose="02020603050405020304" pitchFamily="18" charset="0"/>
                <a:cs typeface="Times New Roman" panose="02020603050405020304" pitchFamily="18" charset="0"/>
              </a:rPr>
              <a:t> — the </a:t>
            </a:r>
            <a:r>
              <a:rPr lang="en-IN" sz="1700" dirty="0" err="1">
                <a:latin typeface="Times New Roman" panose="02020603050405020304" pitchFamily="18" charset="0"/>
                <a:cs typeface="Times New Roman" panose="02020603050405020304" pitchFamily="18" charset="0"/>
              </a:rPr>
              <a:t>AgriMitra</a:t>
            </a:r>
            <a:r>
              <a:rPr lang="en-IN" sz="1700" dirty="0">
                <a:latin typeface="Times New Roman" panose="02020603050405020304" pitchFamily="18" charset="0"/>
                <a:cs typeface="Times New Roman" panose="02020603050405020304" pitchFamily="18" charset="0"/>
              </a:rPr>
              <a:t> system is designed to close this gap.</a:t>
            </a:r>
          </a:p>
          <a:p>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7550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6" name="Shape 118"/>
          <p:cNvSpPr txBox="1">
            <a:spLocks noGrp="1"/>
          </p:cNvSpPr>
          <p:nvPr>
            <p:ph type="body" idx="1"/>
          </p:nvPr>
        </p:nvSpPr>
        <p:spPr>
          <a:xfrm>
            <a:off x="311700" y="1366699"/>
            <a:ext cx="8673804" cy="4970169"/>
          </a:xfrm>
          <a:prstGeom prst="rect">
            <a:avLst/>
          </a:prstGeom>
        </p:spPr>
        <p:txBody>
          <a:bodyPr spcFirstLastPara="1" wrap="square" lIns="91425" tIns="91425" rIns="91425" bIns="91425" anchor="t" anchorCtr="0">
            <a:noAutofit/>
          </a:bodyPr>
          <a:lstStyle/>
          <a:p>
            <a:pPr algn="just"/>
            <a:r>
              <a:rPr lang="en-IN" sz="1700" dirty="0"/>
              <a:t>Farmers often lack intelligent tools to plan suitable crop rotations and farming activities based on soil conditions, previous crops, and seasonal factors.</a:t>
            </a:r>
          </a:p>
          <a:p>
            <a:pPr marL="88900" indent="0" algn="just">
              <a:buNone/>
            </a:pPr>
            <a:endParaRPr lang="en-IN" sz="1700" dirty="0"/>
          </a:p>
          <a:p>
            <a:pPr algn="just"/>
            <a:r>
              <a:rPr lang="en-IN" sz="1700" dirty="0"/>
              <a:t>Farmers face difficulty in identifying crops from images and obtaining reliable estimates of their current and future market prices.</a:t>
            </a:r>
          </a:p>
          <a:p>
            <a:pPr marL="88900" indent="0" algn="just">
              <a:buNone/>
            </a:pPr>
            <a:endParaRPr lang="en-IN" sz="1700" dirty="0"/>
          </a:p>
          <a:p>
            <a:pPr algn="just"/>
            <a:r>
              <a:rPr lang="en-IN" sz="1700" dirty="0"/>
              <a:t>Farmers need an accessible system for real-time farm monitoring and personalized agricultural guidance through simple voice-based interaction.</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3932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F7D54-D448-27CB-4390-82E26202BBA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Proposed Model</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817911E-F138-80DB-CACD-29E125DE42FF}"/>
              </a:ext>
            </a:extLst>
          </p:cNvPr>
          <p:cNvSpPr>
            <a:spLocks noGrp="1"/>
          </p:cNvSpPr>
          <p:nvPr>
            <p:ph type="body" idx="1"/>
          </p:nvPr>
        </p:nvSpPr>
        <p:spPr>
          <a:xfrm>
            <a:off x="311700" y="1356867"/>
            <a:ext cx="8520600" cy="4555200"/>
          </a:xfrm>
        </p:spPr>
        <p:txBody>
          <a:bodyPr/>
          <a:lstStyle/>
          <a:p>
            <a:pPr lvl="0"/>
            <a:r>
              <a:rPr lang="en-IN" sz="1700" b="1" dirty="0">
                <a:latin typeface="Times New Roman" panose="02020603050405020304" pitchFamily="18" charset="0"/>
                <a:cs typeface="Times New Roman" panose="02020603050405020304" pitchFamily="18" charset="0"/>
              </a:rPr>
              <a:t>Crop Planning &amp; Recommendation:</a:t>
            </a:r>
            <a:r>
              <a:rPr lang="en-IN" sz="1700" dirty="0">
                <a:latin typeface="Times New Roman" panose="02020603050405020304" pitchFamily="18" charset="0"/>
                <a:cs typeface="Times New Roman" panose="02020603050405020304" pitchFamily="18" charset="0"/>
              </a:rPr>
              <a:t> Uses soil conditions, previous crop history, and seasonal factors to recommend suitable crops and farming activities through ML and rule-based decision-making. </a:t>
            </a:r>
          </a:p>
          <a:p>
            <a:pPr lvl="0"/>
            <a:endParaRPr lang="en-IN" sz="1700" dirty="0">
              <a:latin typeface="Times New Roman" panose="02020603050405020304" pitchFamily="18" charset="0"/>
              <a:cs typeface="Times New Roman" panose="02020603050405020304" pitchFamily="18" charset="0"/>
            </a:endParaRPr>
          </a:p>
          <a:p>
            <a:pPr lvl="0"/>
            <a:r>
              <a:rPr lang="en-IN" sz="1700" b="1" dirty="0">
                <a:latin typeface="Times New Roman" panose="02020603050405020304" pitchFamily="18" charset="0"/>
                <a:cs typeface="Times New Roman" panose="02020603050405020304" pitchFamily="18" charset="0"/>
              </a:rPr>
              <a:t>Crop Identification &amp; Price Prediction:</a:t>
            </a:r>
            <a:r>
              <a:rPr lang="en-IN" sz="1700" dirty="0">
                <a:latin typeface="Times New Roman" panose="02020603050405020304" pitchFamily="18" charset="0"/>
                <a:cs typeface="Times New Roman" panose="02020603050405020304" pitchFamily="18" charset="0"/>
              </a:rPr>
              <a:t> Uses </a:t>
            </a:r>
            <a:r>
              <a:rPr lang="en-IN" sz="1700" b="1" dirty="0">
                <a:latin typeface="Times New Roman" panose="02020603050405020304" pitchFamily="18" charset="0"/>
                <a:cs typeface="Times New Roman" panose="02020603050405020304" pitchFamily="18" charset="0"/>
              </a:rPr>
              <a:t>MobileNetV2</a:t>
            </a:r>
            <a:r>
              <a:rPr lang="en-IN" sz="1700" dirty="0">
                <a:latin typeface="Times New Roman" panose="02020603050405020304" pitchFamily="18" charset="0"/>
                <a:cs typeface="Times New Roman" panose="02020603050405020304" pitchFamily="18" charset="0"/>
              </a:rPr>
              <a:t> to identify crops from images and ML-based market analysis to estimate current and future prices. </a:t>
            </a:r>
          </a:p>
          <a:p>
            <a:pPr lvl="0"/>
            <a:endParaRPr lang="en-IN" sz="1700" dirty="0">
              <a:latin typeface="Times New Roman" panose="02020603050405020304" pitchFamily="18" charset="0"/>
              <a:cs typeface="Times New Roman" panose="02020603050405020304" pitchFamily="18" charset="0"/>
            </a:endParaRPr>
          </a:p>
          <a:p>
            <a:pPr lvl="0"/>
            <a:r>
              <a:rPr lang="en-IN" sz="1700" b="1" dirty="0">
                <a:latin typeface="Times New Roman" panose="02020603050405020304" pitchFamily="18" charset="0"/>
                <a:cs typeface="Times New Roman" panose="02020603050405020304" pitchFamily="18" charset="0"/>
              </a:rPr>
              <a:t>IoT-Based Farm Monitoring:</a:t>
            </a:r>
            <a:r>
              <a:rPr lang="en-IN" sz="1700" dirty="0">
                <a:latin typeface="Times New Roman" panose="02020603050405020304" pitchFamily="18" charset="0"/>
                <a:cs typeface="Times New Roman" panose="02020603050405020304" pitchFamily="18" charset="0"/>
              </a:rPr>
              <a:t> Collects real-time environmental data such as soil and weather conditions using IoT sensors. </a:t>
            </a:r>
          </a:p>
          <a:p>
            <a:pPr lvl="0"/>
            <a:endParaRPr lang="en-IN" sz="1700" dirty="0">
              <a:latin typeface="Times New Roman" panose="02020603050405020304" pitchFamily="18" charset="0"/>
              <a:cs typeface="Times New Roman" panose="02020603050405020304" pitchFamily="18" charset="0"/>
            </a:endParaRPr>
          </a:p>
          <a:p>
            <a:pPr lvl="0"/>
            <a:r>
              <a:rPr lang="en-IN" sz="1700" b="1" dirty="0">
                <a:latin typeface="Times New Roman" panose="02020603050405020304" pitchFamily="18" charset="0"/>
                <a:cs typeface="Times New Roman" panose="02020603050405020304" pitchFamily="18" charset="0"/>
              </a:rPr>
              <a:t>Multilingual AI Assistant:</a:t>
            </a:r>
            <a:r>
              <a:rPr lang="en-IN" sz="1700" dirty="0">
                <a:latin typeface="Times New Roman" panose="02020603050405020304" pitchFamily="18" charset="0"/>
                <a:cs typeface="Times New Roman" panose="02020603050405020304" pitchFamily="18" charset="0"/>
              </a:rPr>
              <a:t> A </a:t>
            </a:r>
            <a:r>
              <a:rPr lang="en-IN" sz="1700" b="1" dirty="0">
                <a:latin typeface="Times New Roman" panose="02020603050405020304" pitchFamily="18" charset="0"/>
                <a:cs typeface="Times New Roman" panose="02020603050405020304" pitchFamily="18" charset="0"/>
              </a:rPr>
              <a:t>Gemini-powered voice assistant</a:t>
            </a:r>
            <a:r>
              <a:rPr lang="en-IN" sz="1700" dirty="0">
                <a:latin typeface="Times New Roman" panose="02020603050405020304" pitchFamily="18" charset="0"/>
                <a:cs typeface="Times New Roman" panose="02020603050405020304" pitchFamily="18" charset="0"/>
              </a:rPr>
              <a:t> provides farmers with real-time farm information, recommendations, and personalized guidance in multiple languages. </a:t>
            </a:r>
          </a:p>
          <a:p>
            <a:pPr lvl="0"/>
            <a:endParaRPr lang="en-IN" sz="1700" dirty="0">
              <a:latin typeface="Times New Roman" panose="02020603050405020304" pitchFamily="18" charset="0"/>
              <a:cs typeface="Times New Roman" panose="02020603050405020304" pitchFamily="18" charset="0"/>
            </a:endParaRPr>
          </a:p>
          <a:p>
            <a:pPr lvl="0"/>
            <a:r>
              <a:rPr lang="en-IN" sz="1700" b="1" dirty="0">
                <a:latin typeface="Times New Roman" panose="02020603050405020304" pitchFamily="18" charset="0"/>
                <a:cs typeface="Times New Roman" panose="02020603050405020304" pitchFamily="18" charset="0"/>
              </a:rPr>
              <a:t>Integrated Architecture:</a:t>
            </a:r>
            <a:r>
              <a:rPr lang="en-IN" sz="1700" dirty="0">
                <a:latin typeface="Times New Roman" panose="02020603050405020304" pitchFamily="18" charset="0"/>
                <a:cs typeface="Times New Roman" panose="02020603050405020304" pitchFamily="18" charset="0"/>
              </a:rPr>
              <a:t> Combines </a:t>
            </a:r>
            <a:r>
              <a:rPr lang="en-IN" sz="1700" b="1" dirty="0">
                <a:latin typeface="Times New Roman" panose="02020603050405020304" pitchFamily="18" charset="0"/>
                <a:cs typeface="Times New Roman" panose="02020603050405020304" pitchFamily="18" charset="0"/>
              </a:rPr>
              <a:t>IoT sensing, ML models, crop identification, price prediction, weather information, and conversational AI</a:t>
            </a:r>
            <a:r>
              <a:rPr lang="en-IN" sz="1700" dirty="0">
                <a:latin typeface="Times New Roman" panose="02020603050405020304" pitchFamily="18" charset="0"/>
                <a:cs typeface="Times New Roman" panose="02020603050405020304" pitchFamily="18" charset="0"/>
              </a:rPr>
              <a:t> into a single platform for intelligent agricultural decision-making.</a:t>
            </a:r>
          </a:p>
        </p:txBody>
      </p:sp>
    </p:spTree>
    <p:extLst>
      <p:ext uri="{BB962C8B-B14F-4D97-AF65-F5344CB8AC3E}">
        <p14:creationId xmlns:p14="http://schemas.microsoft.com/office/powerpoint/2010/main" val="1176381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12298-E829-093B-1BB6-D69FF04DF39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Design - System Architecture</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ABB568C-B143-3AAF-B537-50FCEC60B68E}"/>
              </a:ext>
            </a:extLst>
          </p:cNvPr>
          <p:cNvSpPr>
            <a:spLocks noGrp="1"/>
          </p:cNvSpPr>
          <p:nvPr>
            <p:ph type="body" idx="1"/>
          </p:nvPr>
        </p:nvSpPr>
        <p:spPr/>
        <p:txBody>
          <a:bodyPr/>
          <a:lstStyle/>
          <a:p>
            <a:endParaRPr lang="en-IN" dirty="0"/>
          </a:p>
        </p:txBody>
      </p:sp>
      <p:pic>
        <p:nvPicPr>
          <p:cNvPr id="6" name="Picture 5">
            <a:extLst>
              <a:ext uri="{FF2B5EF4-FFF2-40B4-BE49-F238E27FC236}">
                <a16:creationId xmlns:a16="http://schemas.microsoft.com/office/drawing/2014/main" id="{B6D722D4-E194-EA7D-D465-47B967A2314D}"/>
              </a:ext>
            </a:extLst>
          </p:cNvPr>
          <p:cNvPicPr>
            <a:picLocks noChangeAspect="1"/>
          </p:cNvPicPr>
          <p:nvPr/>
        </p:nvPicPr>
        <p:blipFill>
          <a:blip r:embed="rId2"/>
          <a:stretch>
            <a:fillRect/>
          </a:stretch>
        </p:blipFill>
        <p:spPr>
          <a:xfrm>
            <a:off x="452284" y="1348504"/>
            <a:ext cx="7374194" cy="4916129"/>
          </a:xfrm>
          <a:prstGeom prst="rect">
            <a:avLst/>
          </a:prstGeom>
        </p:spPr>
      </p:pic>
    </p:spTree>
    <p:extLst>
      <p:ext uri="{BB962C8B-B14F-4D97-AF65-F5344CB8AC3E}">
        <p14:creationId xmlns:p14="http://schemas.microsoft.com/office/powerpoint/2010/main" val="1849862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01891-B5BE-7DA2-DD3D-CCA6EED9C2A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Design - Modules</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4A08821-F166-27B3-F57A-967F250EE8CB}"/>
              </a:ext>
            </a:extLst>
          </p:cNvPr>
          <p:cNvSpPr>
            <a:spLocks noGrp="1"/>
          </p:cNvSpPr>
          <p:nvPr>
            <p:ph type="body" idx="1"/>
          </p:nvPr>
        </p:nvSpPr>
        <p:spPr/>
        <p:txBody>
          <a:bodyPr/>
          <a:lstStyle/>
          <a:p>
            <a:pPr marL="88900" indent="0">
              <a:buNone/>
            </a:pPr>
            <a:r>
              <a:rPr lang="en-IN" sz="1700" b="1" dirty="0">
                <a:latin typeface="Times New Roman" panose="02020603050405020304" pitchFamily="18" charset="0"/>
                <a:cs typeface="Times New Roman" panose="02020603050405020304" pitchFamily="18" charset="0"/>
              </a:rPr>
              <a:t>Crop Rotation &amp; Scheduling</a:t>
            </a: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Recommends suitable crop sequences based on </a:t>
            </a:r>
            <a:r>
              <a:rPr lang="en-IN" sz="1700" b="1" dirty="0">
                <a:latin typeface="Times New Roman" panose="02020603050405020304" pitchFamily="18" charset="0"/>
                <a:cs typeface="Times New Roman" panose="02020603050405020304" pitchFamily="18" charset="0"/>
              </a:rPr>
              <a:t>soil conditions and previous crops</a:t>
            </a:r>
            <a:r>
              <a:rPr lang="en-IN" sz="1700" dirty="0">
                <a:latin typeface="Times New Roman" panose="02020603050405020304" pitchFamily="18" charset="0"/>
                <a:cs typeface="Times New Roman" panose="02020603050405020304" pitchFamily="18" charset="0"/>
              </a:rPr>
              <a:t>. </a:t>
            </a: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Suggests appropriate </a:t>
            </a:r>
            <a:r>
              <a:rPr lang="en-IN" sz="1700" b="1" dirty="0">
                <a:latin typeface="Times New Roman" panose="02020603050405020304" pitchFamily="18" charset="0"/>
                <a:cs typeface="Times New Roman" panose="02020603050405020304" pitchFamily="18" charset="0"/>
              </a:rPr>
              <a:t>farming activities and schedules</a:t>
            </a:r>
            <a:r>
              <a:rPr lang="en-IN" sz="1700" dirty="0">
                <a:latin typeface="Times New Roman" panose="02020603050405020304" pitchFamily="18" charset="0"/>
                <a:cs typeface="Times New Roman" panose="02020603050405020304" pitchFamily="18" charset="0"/>
              </a:rPr>
              <a:t>. </a:t>
            </a:r>
          </a:p>
          <a:p>
            <a:pPr lvl="0">
              <a:buSzPct val="11000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Uses </a:t>
            </a:r>
            <a:r>
              <a:rPr lang="en-IN" sz="1700" b="1" dirty="0">
                <a:latin typeface="Times New Roman" panose="02020603050405020304" pitchFamily="18" charset="0"/>
                <a:cs typeface="Times New Roman" panose="02020603050405020304" pitchFamily="18" charset="0"/>
              </a:rPr>
              <a:t>machine learning and rule-based analysis</a:t>
            </a:r>
            <a:r>
              <a:rPr lang="en-IN" sz="1700" dirty="0">
                <a:latin typeface="Times New Roman" panose="02020603050405020304" pitchFamily="18" charset="0"/>
                <a:cs typeface="Times New Roman" panose="02020603050405020304" pitchFamily="18" charset="0"/>
              </a:rPr>
              <a:t> for crop planning.</a:t>
            </a:r>
          </a:p>
          <a:p>
            <a:pPr marL="88900" lvl="0" indent="0">
              <a:buNone/>
            </a:pPr>
            <a:endParaRPr lang="en-IN" sz="1700" dirty="0">
              <a:latin typeface="Times New Roman" panose="02020603050405020304" pitchFamily="18" charset="0"/>
              <a:cs typeface="Times New Roman" panose="02020603050405020304" pitchFamily="18" charset="0"/>
            </a:endParaRPr>
          </a:p>
          <a:p>
            <a:pPr marL="88900" lvl="0" indent="0">
              <a:buNone/>
            </a:pPr>
            <a:r>
              <a:rPr lang="en-IN" sz="1700" dirty="0">
                <a:latin typeface="Times New Roman" panose="02020603050405020304" pitchFamily="18" charset="0"/>
                <a:cs typeface="Times New Roman" panose="02020603050405020304" pitchFamily="18" charset="0"/>
              </a:rPr>
              <a:t> </a:t>
            </a:r>
          </a:p>
          <a:p>
            <a:pPr marL="88900" lvl="0" indent="0">
              <a:buNone/>
            </a:pPr>
            <a:r>
              <a:rPr lang="en-IN" sz="1700" b="1" dirty="0">
                <a:latin typeface="Times New Roman" panose="02020603050405020304" pitchFamily="18" charset="0"/>
                <a:cs typeface="Times New Roman" panose="02020603050405020304" pitchFamily="18" charset="0"/>
              </a:rPr>
              <a:t>Image-Based Crop Price Prediction</a:t>
            </a:r>
          </a:p>
          <a:p>
            <a:pPr lvl="0">
              <a:buSzPct val="11000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Identifies the crop from an </a:t>
            </a:r>
            <a:r>
              <a:rPr lang="en-IN" sz="1700" b="1" dirty="0">
                <a:latin typeface="Times New Roman" panose="02020603050405020304" pitchFamily="18" charset="0"/>
                <a:cs typeface="Times New Roman" panose="02020603050405020304" pitchFamily="18" charset="0"/>
              </a:rPr>
              <a:t>uploaded image using MobileNetV2</a:t>
            </a:r>
            <a:r>
              <a:rPr lang="en-IN" sz="1700" dirty="0">
                <a:latin typeface="Times New Roman" panose="02020603050405020304" pitchFamily="18" charset="0"/>
                <a:cs typeface="Times New Roman" panose="02020603050405020304" pitchFamily="18" charset="0"/>
              </a:rPr>
              <a:t>. </a:t>
            </a:r>
          </a:p>
          <a:p>
            <a:pPr lvl="0">
              <a:buSzPct val="11000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Retrieves relevant </a:t>
            </a:r>
            <a:r>
              <a:rPr lang="en-IN" sz="1700" b="1" dirty="0">
                <a:latin typeface="Times New Roman" panose="02020603050405020304" pitchFamily="18" charset="0"/>
                <a:cs typeface="Times New Roman" panose="02020603050405020304" pitchFamily="18" charset="0"/>
              </a:rPr>
              <a:t>market price data</a:t>
            </a:r>
            <a:r>
              <a:rPr lang="en-IN" sz="1700" dirty="0">
                <a:latin typeface="Times New Roman" panose="02020603050405020304" pitchFamily="18" charset="0"/>
                <a:cs typeface="Times New Roman" panose="02020603050405020304" pitchFamily="18" charset="0"/>
              </a:rPr>
              <a:t>. </a:t>
            </a:r>
          </a:p>
          <a:p>
            <a:pPr lvl="0">
              <a:buSzPct val="11000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Predicts </a:t>
            </a:r>
            <a:r>
              <a:rPr lang="en-IN" sz="1700" b="1" dirty="0">
                <a:latin typeface="Times New Roman" panose="02020603050405020304" pitchFamily="18" charset="0"/>
                <a:cs typeface="Times New Roman" panose="02020603050405020304" pitchFamily="18" charset="0"/>
              </a:rPr>
              <a:t>current and future crop price trends</a:t>
            </a:r>
            <a:r>
              <a:rPr lang="en-IN" sz="1700" dirty="0">
                <a:latin typeface="Times New Roman" panose="02020603050405020304" pitchFamily="18" charset="0"/>
                <a:cs typeface="Times New Roman" panose="02020603050405020304" pitchFamily="18" charset="0"/>
              </a:rPr>
              <a:t> using historical data.</a:t>
            </a:r>
          </a:p>
          <a:p>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0398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4374B-FDAD-1E54-A80C-12E6208D58B1}"/>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Implementation -Hardware and Software Requirements</a:t>
            </a:r>
            <a:endParaRPr lang="en-IN" dirty="0"/>
          </a:p>
        </p:txBody>
      </p:sp>
      <p:sp>
        <p:nvSpPr>
          <p:cNvPr id="3" name="Text Placeholder 2">
            <a:extLst>
              <a:ext uri="{FF2B5EF4-FFF2-40B4-BE49-F238E27FC236}">
                <a16:creationId xmlns:a16="http://schemas.microsoft.com/office/drawing/2014/main" id="{784D173E-7811-46E8-3AC0-D95F1E07507F}"/>
              </a:ext>
            </a:extLst>
          </p:cNvPr>
          <p:cNvSpPr>
            <a:spLocks noGrp="1"/>
          </p:cNvSpPr>
          <p:nvPr>
            <p:ph type="body" idx="1"/>
          </p:nvPr>
        </p:nvSpPr>
        <p:spPr/>
        <p:txBody>
          <a:bodyPr/>
          <a:lstStyle/>
          <a:p>
            <a:endParaRPr lang="en-IN" dirty="0"/>
          </a:p>
        </p:txBody>
      </p:sp>
      <p:graphicFrame>
        <p:nvGraphicFramePr>
          <p:cNvPr id="5" name="Table 4">
            <a:extLst>
              <a:ext uri="{FF2B5EF4-FFF2-40B4-BE49-F238E27FC236}">
                <a16:creationId xmlns:a16="http://schemas.microsoft.com/office/drawing/2014/main" id="{ABD67AB0-A0D5-2207-9486-134776B15F94}"/>
              </a:ext>
            </a:extLst>
          </p:cNvPr>
          <p:cNvGraphicFramePr>
            <a:graphicFrameLocks noGrp="1"/>
          </p:cNvGraphicFramePr>
          <p:nvPr>
            <p:extLst>
              <p:ext uri="{D42A27DB-BD31-4B8C-83A1-F6EECF244321}">
                <p14:modId xmlns:p14="http://schemas.microsoft.com/office/powerpoint/2010/main" val="3409952626"/>
              </p:ext>
            </p:extLst>
          </p:nvPr>
        </p:nvGraphicFramePr>
        <p:xfrm>
          <a:off x="311700" y="1868128"/>
          <a:ext cx="8520600" cy="3628104"/>
        </p:xfrm>
        <a:graphic>
          <a:graphicData uri="http://schemas.openxmlformats.org/drawingml/2006/table">
            <a:tbl>
              <a:tblPr>
                <a:tableStyleId>{5C22544A-7EE6-4342-B048-85BDC9FD1C3A}</a:tableStyleId>
              </a:tblPr>
              <a:tblGrid>
                <a:gridCol w="4260300">
                  <a:extLst>
                    <a:ext uri="{9D8B030D-6E8A-4147-A177-3AD203B41FA5}">
                      <a16:colId xmlns:a16="http://schemas.microsoft.com/office/drawing/2014/main" val="248534896"/>
                    </a:ext>
                  </a:extLst>
                </a:gridCol>
                <a:gridCol w="4260300">
                  <a:extLst>
                    <a:ext uri="{9D8B030D-6E8A-4147-A177-3AD203B41FA5}">
                      <a16:colId xmlns:a16="http://schemas.microsoft.com/office/drawing/2014/main" val="3418285528"/>
                    </a:ext>
                  </a:extLst>
                </a:gridCol>
              </a:tblGrid>
              <a:tr h="453513">
                <a:tc>
                  <a:txBody>
                    <a:bodyPr/>
                    <a:lstStyle/>
                    <a:p>
                      <a:pPr>
                        <a:buNone/>
                      </a:pPr>
                      <a:r>
                        <a:rPr lang="en-IN" sz="1700" b="1" dirty="0">
                          <a:latin typeface="Times New Roman" panose="02020603050405020304" pitchFamily="18" charset="0"/>
                          <a:cs typeface="Times New Roman" panose="02020603050405020304" pitchFamily="18" charset="0"/>
                        </a:rPr>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b="1" dirty="0">
                          <a:latin typeface="Times New Roman" panose="02020603050405020304" pitchFamily="18" charset="0"/>
                          <a:cs typeface="Times New Roman" panose="02020603050405020304" pitchFamily="18" charset="0"/>
                        </a:rPr>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5367309"/>
                  </a:ext>
                </a:extLst>
              </a:tr>
              <a:tr h="453513">
                <a:tc>
                  <a:txBody>
                    <a:bodyPr/>
                    <a:lstStyle/>
                    <a:p>
                      <a:pPr>
                        <a:buNone/>
                      </a:pPr>
                      <a:r>
                        <a:rPr lang="en-IN" sz="1700">
                          <a:latin typeface="Times New Roman" panose="02020603050405020304" pitchFamily="18" charset="0"/>
                          <a:cs typeface="Times New Roman" panose="02020603050405020304" pitchFamily="18" charset="0"/>
                        </a:rPr>
                        <a:t>ESP32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a:latin typeface="Times New Roman" panose="02020603050405020304" pitchFamily="18" charset="0"/>
                          <a:cs typeface="Times New Roman" panose="02020603050405020304" pitchFamily="18" charset="0"/>
                        </a:rPr>
                        <a:t>IoT sensor connectivity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7973456"/>
                  </a:ext>
                </a:extLst>
              </a:tr>
              <a:tr h="453513">
                <a:tc>
                  <a:txBody>
                    <a:bodyPr/>
                    <a:lstStyle/>
                    <a:p>
                      <a:pPr>
                        <a:buNone/>
                      </a:pPr>
                      <a:r>
                        <a:rPr lang="en-IN" sz="1700" dirty="0">
                          <a:latin typeface="Times New Roman" panose="02020603050405020304" pitchFamily="18" charset="0"/>
                          <a:cs typeface="Times New Roman" panose="02020603050405020304" pitchFamily="18" charset="0"/>
                        </a:rPr>
                        <a:t>Capacitive Soil Moisture Sensor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a:latin typeface="Times New Roman" panose="02020603050405020304" pitchFamily="18" charset="0"/>
                          <a:cs typeface="Times New Roman" panose="02020603050405020304" pitchFamily="18" charset="0"/>
                        </a:rPr>
                        <a:t>Soil moisture monitoring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95600354"/>
                  </a:ext>
                </a:extLst>
              </a:tr>
              <a:tr h="453513">
                <a:tc>
                  <a:txBody>
                    <a:bodyPr/>
                    <a:lstStyle/>
                    <a:p>
                      <a:pPr>
                        <a:buNone/>
                      </a:pPr>
                      <a:r>
                        <a:rPr lang="en-IN" sz="1700" dirty="0">
                          <a:latin typeface="Times New Roman" panose="02020603050405020304" pitchFamily="18" charset="0"/>
                          <a:cs typeface="Times New Roman" panose="02020603050405020304" pitchFamily="18" charset="0"/>
                        </a:rPr>
                        <a:t>DHT22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a:latin typeface="Times New Roman" panose="02020603050405020304" pitchFamily="18" charset="0"/>
                          <a:cs typeface="Times New Roman" panose="02020603050405020304" pitchFamily="18" charset="0"/>
                        </a:rPr>
                        <a:t>Temperature &amp; humidity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3423823"/>
                  </a:ext>
                </a:extLst>
              </a:tr>
              <a:tr h="453513">
                <a:tc>
                  <a:txBody>
                    <a:bodyPr/>
                    <a:lstStyle/>
                    <a:p>
                      <a:pPr>
                        <a:buNone/>
                      </a:pPr>
                      <a:r>
                        <a:rPr lang="en-IN" sz="1700" dirty="0">
                          <a:latin typeface="Times New Roman" panose="02020603050405020304" pitchFamily="18" charset="0"/>
                          <a:cs typeface="Times New Roman" panose="02020603050405020304" pitchFamily="18" charset="0"/>
                        </a:rPr>
                        <a:t>Relay Module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a:latin typeface="Times New Roman" panose="02020603050405020304" pitchFamily="18" charset="0"/>
                          <a:cs typeface="Times New Roman" panose="02020603050405020304" pitchFamily="18" charset="0"/>
                        </a:rPr>
                        <a:t>Planned pump switching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14050697"/>
                  </a:ext>
                </a:extLst>
              </a:tr>
              <a:tr h="453513">
                <a:tc>
                  <a:txBody>
                    <a:bodyPr/>
                    <a:lstStyle/>
                    <a:p>
                      <a:pPr>
                        <a:buNone/>
                      </a:pPr>
                      <a:r>
                        <a:rPr lang="en-IN" sz="1700">
                          <a:latin typeface="Times New Roman" panose="02020603050405020304" pitchFamily="18" charset="0"/>
                          <a:cs typeface="Times New Roman" panose="02020603050405020304" pitchFamily="18" charset="0"/>
                        </a:rPr>
                        <a:t>12V DC Pump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a:latin typeface="Times New Roman" panose="02020603050405020304" pitchFamily="18" charset="0"/>
                          <a:cs typeface="Times New Roman" panose="02020603050405020304" pitchFamily="18" charset="0"/>
                        </a:rPr>
                        <a:t>Proposed irrigation actuator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30255273"/>
                  </a:ext>
                </a:extLst>
              </a:tr>
              <a:tr h="453513">
                <a:tc>
                  <a:txBody>
                    <a:bodyPr/>
                    <a:lstStyle/>
                    <a:p>
                      <a:pPr>
                        <a:buNone/>
                      </a:pPr>
                      <a:r>
                        <a:rPr lang="en-IN" sz="1700">
                          <a:latin typeface="Times New Roman" panose="02020603050405020304" pitchFamily="18" charset="0"/>
                          <a:cs typeface="Times New Roman" panose="02020603050405020304" pitchFamily="18" charset="0"/>
                        </a:rPr>
                        <a:t>Water Level Sensor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dirty="0">
                          <a:latin typeface="Times New Roman" panose="02020603050405020304" pitchFamily="18" charset="0"/>
                          <a:cs typeface="Times New Roman" panose="02020603050405020304" pitchFamily="18" charset="0"/>
                        </a:rPr>
                        <a:t>Planned dry-run protection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3496019"/>
                  </a:ext>
                </a:extLst>
              </a:tr>
              <a:tr h="453513">
                <a:tc>
                  <a:txBody>
                    <a:bodyPr/>
                    <a:lstStyle/>
                    <a:p>
                      <a:pPr>
                        <a:buNone/>
                      </a:pPr>
                      <a:r>
                        <a:rPr lang="en-IN" sz="1700">
                          <a:latin typeface="Times New Roman" panose="02020603050405020304" pitchFamily="18" charset="0"/>
                          <a:cs typeface="Times New Roman" panose="02020603050405020304" pitchFamily="18" charset="0"/>
                        </a:rPr>
                        <a:t>Power Supply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dirty="0">
                          <a:latin typeface="Times New Roman" panose="02020603050405020304" pitchFamily="18" charset="0"/>
                          <a:cs typeface="Times New Roman" panose="02020603050405020304" pitchFamily="18" charset="0"/>
                        </a:rPr>
                        <a:t>Development/testing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07839399"/>
                  </a:ext>
                </a:extLst>
              </a:tr>
            </a:tbl>
          </a:graphicData>
        </a:graphic>
      </p:graphicFrame>
    </p:spTree>
    <p:extLst>
      <p:ext uri="{BB962C8B-B14F-4D97-AF65-F5344CB8AC3E}">
        <p14:creationId xmlns:p14="http://schemas.microsoft.com/office/powerpoint/2010/main" val="827787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94968-D7FF-CD2F-7F8F-42ED0F3BA8D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Implementation - Software Stack</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1C8790F-98DB-53C4-8BC3-EC50330675E4}"/>
              </a:ext>
            </a:extLst>
          </p:cNvPr>
          <p:cNvSpPr>
            <a:spLocks noGrp="1"/>
          </p:cNvSpPr>
          <p:nvPr>
            <p:ph type="body" idx="1"/>
          </p:nvPr>
        </p:nvSpPr>
        <p:spPr/>
        <p:txBody>
          <a:bodyPr/>
          <a:lstStyle/>
          <a:p>
            <a:endParaRPr lang="en-IN" dirty="0"/>
          </a:p>
        </p:txBody>
      </p:sp>
      <p:graphicFrame>
        <p:nvGraphicFramePr>
          <p:cNvPr id="4" name="Table 3">
            <a:extLst>
              <a:ext uri="{FF2B5EF4-FFF2-40B4-BE49-F238E27FC236}">
                <a16:creationId xmlns:a16="http://schemas.microsoft.com/office/drawing/2014/main" id="{D1F049CF-5B40-8E5E-6DBB-EC65A9AB16E6}"/>
              </a:ext>
            </a:extLst>
          </p:cNvPr>
          <p:cNvGraphicFramePr>
            <a:graphicFrameLocks noGrp="1"/>
          </p:cNvGraphicFramePr>
          <p:nvPr>
            <p:extLst>
              <p:ext uri="{D42A27DB-BD31-4B8C-83A1-F6EECF244321}">
                <p14:modId xmlns:p14="http://schemas.microsoft.com/office/powerpoint/2010/main" val="3173307009"/>
              </p:ext>
            </p:extLst>
          </p:nvPr>
        </p:nvGraphicFramePr>
        <p:xfrm>
          <a:off x="372660" y="1453806"/>
          <a:ext cx="8520600" cy="4556760"/>
        </p:xfrm>
        <a:graphic>
          <a:graphicData uri="http://schemas.openxmlformats.org/drawingml/2006/table">
            <a:tbl>
              <a:tblPr>
                <a:tableStyleId>{5C22544A-7EE6-4342-B048-85BDC9FD1C3A}</a:tableStyleId>
              </a:tblPr>
              <a:tblGrid>
                <a:gridCol w="4260300">
                  <a:extLst>
                    <a:ext uri="{9D8B030D-6E8A-4147-A177-3AD203B41FA5}">
                      <a16:colId xmlns:a16="http://schemas.microsoft.com/office/drawing/2014/main" val="745986815"/>
                    </a:ext>
                  </a:extLst>
                </a:gridCol>
                <a:gridCol w="4260300">
                  <a:extLst>
                    <a:ext uri="{9D8B030D-6E8A-4147-A177-3AD203B41FA5}">
                      <a16:colId xmlns:a16="http://schemas.microsoft.com/office/drawing/2014/main" val="3104407086"/>
                    </a:ext>
                  </a:extLst>
                </a:gridCol>
              </a:tblGrid>
              <a:tr h="350400">
                <a:tc>
                  <a:txBody>
                    <a:bodyPr/>
                    <a:lstStyle/>
                    <a:p>
                      <a:pPr>
                        <a:buNone/>
                      </a:pPr>
                      <a:r>
                        <a:rPr lang="en-IN" sz="1700" b="1" dirty="0">
                          <a:latin typeface="Times New Roman" panose="02020603050405020304" pitchFamily="18" charset="0"/>
                          <a:cs typeface="Times New Roman" panose="02020603050405020304" pitchFamily="18" charset="0"/>
                        </a:rPr>
                        <a:t>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b="1" dirty="0">
                          <a:latin typeface="Times New Roman" panose="02020603050405020304" pitchFamily="18" charset="0"/>
                          <a:cs typeface="Times New Roman" panose="02020603050405020304" pitchFamily="18" charset="0"/>
                        </a:rPr>
                        <a:t>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4549016"/>
                  </a:ext>
                </a:extLst>
              </a:tr>
              <a:tr h="350400">
                <a:tc>
                  <a:txBody>
                    <a:bodyPr/>
                    <a:lstStyle/>
                    <a:p>
                      <a:pPr>
                        <a:buNone/>
                      </a:pPr>
                      <a:r>
                        <a:rPr lang="en-IN" sz="1700">
                          <a:latin typeface="Times New Roman" panose="02020603050405020304" pitchFamily="18" charset="0"/>
                          <a:cs typeface="Times New Roman" panose="02020603050405020304" pitchFamily="18" charset="0"/>
                        </a:rPr>
                        <a:t>Frontend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a:latin typeface="Times New Roman" panose="02020603050405020304" pitchFamily="18" charset="0"/>
                          <a:cs typeface="Times New Roman" panose="02020603050405020304" pitchFamily="18" charset="0"/>
                        </a:rPr>
                        <a:t>Flutter / Dart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66159711"/>
                  </a:ext>
                </a:extLst>
              </a:tr>
              <a:tr h="350400">
                <a:tc>
                  <a:txBody>
                    <a:bodyPr/>
                    <a:lstStyle/>
                    <a:p>
                      <a:pPr>
                        <a:buNone/>
                      </a:pPr>
                      <a:r>
                        <a:rPr lang="en-IN" sz="1700" dirty="0">
                          <a:latin typeface="Times New Roman" panose="02020603050405020304" pitchFamily="18" charset="0"/>
                          <a:cs typeface="Times New Roman" panose="02020603050405020304" pitchFamily="18" charset="0"/>
                        </a:rPr>
                        <a:t>Backend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a:latin typeface="Times New Roman" panose="02020603050405020304" pitchFamily="18" charset="0"/>
                          <a:cs typeface="Times New Roman" panose="02020603050405020304" pitchFamily="18" charset="0"/>
                        </a:rPr>
                        <a:t>Node.js / Express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4472978"/>
                  </a:ext>
                </a:extLst>
              </a:tr>
              <a:tr h="350400">
                <a:tc>
                  <a:txBody>
                    <a:bodyPr/>
                    <a:lstStyle/>
                    <a:p>
                      <a:pPr>
                        <a:buNone/>
                      </a:pPr>
                      <a:r>
                        <a:rPr lang="en-IN" sz="1700" dirty="0">
                          <a:latin typeface="Times New Roman" panose="02020603050405020304" pitchFamily="18" charset="0"/>
                          <a:cs typeface="Times New Roman" panose="02020603050405020304" pitchFamily="18" charset="0"/>
                        </a:rPr>
                        <a:t>Database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dirty="0">
                          <a:latin typeface="Times New Roman" panose="02020603050405020304" pitchFamily="18" charset="0"/>
                          <a:cs typeface="Times New Roman" panose="02020603050405020304" pitchFamily="18" charset="0"/>
                        </a:rPr>
                        <a:t>MongoDB Atlas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4384092"/>
                  </a:ext>
                </a:extLst>
              </a:tr>
              <a:tr h="350400">
                <a:tc>
                  <a:txBody>
                    <a:bodyPr/>
                    <a:lstStyle/>
                    <a:p>
                      <a:pPr>
                        <a:buNone/>
                      </a:pPr>
                      <a:r>
                        <a:rPr lang="en-IN" sz="1700">
                          <a:latin typeface="Times New Roman" panose="02020603050405020304" pitchFamily="18" charset="0"/>
                          <a:cs typeface="Times New Roman" panose="02020603050405020304" pitchFamily="18" charset="0"/>
                        </a:rPr>
                        <a:t>IoT Communication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a:latin typeface="Times New Roman" panose="02020603050405020304" pitchFamily="18" charset="0"/>
                          <a:cs typeface="Times New Roman" panose="02020603050405020304" pitchFamily="18" charset="0"/>
                        </a:rPr>
                        <a:t>MQTT / HiveMQ Cloud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3785235"/>
                  </a:ext>
                </a:extLst>
              </a:tr>
              <a:tr h="350400">
                <a:tc>
                  <a:txBody>
                    <a:bodyPr/>
                    <a:lstStyle/>
                    <a:p>
                      <a:pPr>
                        <a:buNone/>
                      </a:pPr>
                      <a:r>
                        <a:rPr lang="en-IN" sz="1700">
                          <a:latin typeface="Times New Roman" panose="02020603050405020304" pitchFamily="18" charset="0"/>
                          <a:cs typeface="Times New Roman" panose="02020603050405020304" pitchFamily="18" charset="0"/>
                        </a:rPr>
                        <a:t>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a:latin typeface="Times New Roman" panose="02020603050405020304" pitchFamily="18" charset="0"/>
                          <a:cs typeface="Times New Roman" panose="02020603050405020304" pitchFamily="18" charset="0"/>
                        </a:rPr>
                        <a:t>Google Gemini 2.5 Flash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36327248"/>
                  </a:ext>
                </a:extLst>
              </a:tr>
              <a:tr h="350400">
                <a:tc>
                  <a:txBody>
                    <a:bodyPr/>
                    <a:lstStyle/>
                    <a:p>
                      <a:pPr>
                        <a:buNone/>
                      </a:pPr>
                      <a:r>
                        <a:rPr lang="en-IN" sz="1700">
                          <a:latin typeface="Times New Roman" panose="02020603050405020304" pitchFamily="18" charset="0"/>
                          <a:cs typeface="Times New Roman" panose="02020603050405020304" pitchFamily="18" charset="0"/>
                        </a:rPr>
                        <a:t>Crop ML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a:latin typeface="Times New Roman" panose="02020603050405020304" pitchFamily="18" charset="0"/>
                          <a:cs typeface="Times New Roman" panose="02020603050405020304" pitchFamily="18" charset="0"/>
                        </a:rPr>
                        <a:t>Python / Flask / 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76920577"/>
                  </a:ext>
                </a:extLst>
              </a:tr>
              <a:tr h="350400">
                <a:tc>
                  <a:txBody>
                    <a:bodyPr/>
                    <a:lstStyle/>
                    <a:p>
                      <a:pPr>
                        <a:buNone/>
                      </a:pPr>
                      <a:r>
                        <a:rPr lang="en-IN" sz="1700">
                          <a:latin typeface="Times New Roman" panose="02020603050405020304" pitchFamily="18" charset="0"/>
                          <a:cs typeface="Times New Roman" panose="02020603050405020304" pitchFamily="18" charset="0"/>
                        </a:rPr>
                        <a:t>Price ML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a:latin typeface="Times New Roman" panose="02020603050405020304" pitchFamily="18" charset="0"/>
                          <a:cs typeface="Times New Roman" panose="02020603050405020304" pitchFamily="18" charset="0"/>
                        </a:rPr>
                        <a:t>Python / Flask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24186566"/>
                  </a:ext>
                </a:extLst>
              </a:tr>
              <a:tr h="350400">
                <a:tc>
                  <a:txBody>
                    <a:bodyPr/>
                    <a:lstStyle/>
                    <a:p>
                      <a:pPr>
                        <a:buNone/>
                      </a:pPr>
                      <a:r>
                        <a:rPr lang="en-IN" sz="1700">
                          <a:latin typeface="Times New Roman" panose="02020603050405020304" pitchFamily="18" charset="0"/>
                          <a:cs typeface="Times New Roman" panose="02020603050405020304" pitchFamily="18" charset="0"/>
                        </a:rPr>
                        <a:t>Image Recognition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a:latin typeface="Times New Roman" panose="02020603050405020304" pitchFamily="18" charset="0"/>
                          <a:cs typeface="Times New Roman" panose="02020603050405020304" pitchFamily="18" charset="0"/>
                        </a:rPr>
                        <a:t>MobileNetV2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0549505"/>
                  </a:ext>
                </a:extLst>
              </a:tr>
              <a:tr h="350400">
                <a:tc>
                  <a:txBody>
                    <a:bodyPr/>
                    <a:lstStyle/>
                    <a:p>
                      <a:pPr>
                        <a:buNone/>
                      </a:pPr>
                      <a:r>
                        <a:rPr lang="en-IN" sz="1700" dirty="0">
                          <a:latin typeface="Times New Roman" panose="02020603050405020304" pitchFamily="18" charset="0"/>
                          <a:cs typeface="Times New Roman" panose="02020603050405020304" pitchFamily="18" charset="0"/>
                        </a:rPr>
                        <a:t>Weather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a:latin typeface="Times New Roman" panose="02020603050405020304" pitchFamily="18" charset="0"/>
                          <a:cs typeface="Times New Roman" panose="02020603050405020304" pitchFamily="18" charset="0"/>
                        </a:rPr>
                        <a:t>OpenWeatherMap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14496564"/>
                  </a:ext>
                </a:extLst>
              </a:tr>
              <a:tr h="350400">
                <a:tc>
                  <a:txBody>
                    <a:bodyPr/>
                    <a:lstStyle/>
                    <a:p>
                      <a:pPr>
                        <a:buNone/>
                      </a:pPr>
                      <a:r>
                        <a:rPr lang="en-IN" sz="1700">
                          <a:latin typeface="Times New Roman" panose="02020603050405020304" pitchFamily="18" charset="0"/>
                          <a:cs typeface="Times New Roman" panose="02020603050405020304" pitchFamily="18" charset="0"/>
                        </a:rPr>
                        <a:t>Market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a:latin typeface="Times New Roman" panose="02020603050405020304" pitchFamily="18" charset="0"/>
                          <a:cs typeface="Times New Roman" panose="02020603050405020304" pitchFamily="18" charset="0"/>
                        </a:rPr>
                        <a:t>AGMARKNET / data.gov.in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07972274"/>
                  </a:ext>
                </a:extLst>
              </a:tr>
              <a:tr h="350400">
                <a:tc>
                  <a:txBody>
                    <a:bodyPr/>
                    <a:lstStyle/>
                    <a:p>
                      <a:pPr>
                        <a:buNone/>
                      </a:pPr>
                      <a:r>
                        <a:rPr lang="en-IN" sz="1700">
                          <a:latin typeface="Times New Roman" panose="02020603050405020304" pitchFamily="18" charset="0"/>
                          <a:cs typeface="Times New Roman" panose="02020603050405020304" pitchFamily="18" charset="0"/>
                        </a:rPr>
                        <a:t>Authentication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a:latin typeface="Times New Roman" panose="02020603050405020304" pitchFamily="18" charset="0"/>
                          <a:cs typeface="Times New Roman" panose="02020603050405020304" pitchFamily="18" charset="0"/>
                        </a:rPr>
                        <a:t>JWT + bcrypt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90229445"/>
                  </a:ext>
                </a:extLst>
              </a:tr>
              <a:tr h="350400">
                <a:tc>
                  <a:txBody>
                    <a:bodyPr/>
                    <a:lstStyle/>
                    <a:p>
                      <a:pPr>
                        <a:buNone/>
                      </a:pPr>
                      <a:r>
                        <a:rPr lang="en-IN" sz="1700">
                          <a:latin typeface="Times New Roman" panose="02020603050405020304" pitchFamily="18" charset="0"/>
                          <a:cs typeface="Times New Roman" panose="02020603050405020304" pitchFamily="18" charset="0"/>
                        </a:rPr>
                        <a:t>Voice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dirty="0" err="1">
                          <a:latin typeface="Times New Roman" panose="02020603050405020304" pitchFamily="18" charset="0"/>
                          <a:cs typeface="Times New Roman" panose="02020603050405020304" pitchFamily="18" charset="0"/>
                        </a:rPr>
                        <a:t>speech_to_text</a:t>
                      </a:r>
                      <a:r>
                        <a:rPr lang="en-IN" sz="1700" dirty="0">
                          <a:latin typeface="Times New Roman" panose="02020603050405020304" pitchFamily="18" charset="0"/>
                          <a:cs typeface="Times New Roman" panose="02020603050405020304" pitchFamily="18" charset="0"/>
                        </a:rPr>
                        <a:t> + </a:t>
                      </a:r>
                      <a:r>
                        <a:rPr lang="en-IN" sz="1700" dirty="0" err="1">
                          <a:latin typeface="Times New Roman" panose="02020603050405020304" pitchFamily="18" charset="0"/>
                          <a:cs typeface="Times New Roman" panose="02020603050405020304" pitchFamily="18" charset="0"/>
                        </a:rPr>
                        <a:t>flutter_tts</a:t>
                      </a:r>
                      <a:endParaRPr lang="en-IN" sz="17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90859330"/>
                  </a:ext>
                </a:extLst>
              </a:tr>
            </a:tbl>
          </a:graphicData>
        </a:graphic>
      </p:graphicFrame>
    </p:spTree>
    <p:extLst>
      <p:ext uri="{BB962C8B-B14F-4D97-AF65-F5344CB8AC3E}">
        <p14:creationId xmlns:p14="http://schemas.microsoft.com/office/powerpoint/2010/main" val="2696005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B069E-1CE6-8FC8-A246-3970C3D9BF9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Implementation - AI &amp; ML Components</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2EE39A3-BBB2-61BC-AD0D-9CBE510B4F2D}"/>
              </a:ext>
            </a:extLst>
          </p:cNvPr>
          <p:cNvSpPr>
            <a:spLocks noGrp="1"/>
          </p:cNvSpPr>
          <p:nvPr>
            <p:ph type="body" idx="1"/>
          </p:nvPr>
        </p:nvSpPr>
        <p:spPr>
          <a:xfrm>
            <a:off x="310600" y="1382197"/>
            <a:ext cx="8520600" cy="4555200"/>
          </a:xfrm>
        </p:spPr>
        <p:txBody>
          <a:bodyPr/>
          <a:lstStyle/>
          <a:p>
            <a:pPr marL="88900" indent="0" algn="just">
              <a:buNone/>
            </a:pPr>
            <a:r>
              <a:rPr lang="en-IN" sz="1700" b="1" dirty="0">
                <a:latin typeface="Times New Roman" panose="02020603050405020304" pitchFamily="18" charset="0"/>
                <a:cs typeface="Times New Roman" panose="02020603050405020304" pitchFamily="18" charset="0"/>
              </a:rPr>
              <a:t>AI Component</a:t>
            </a:r>
          </a:p>
          <a:p>
            <a:pPr algn="just">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Gemini 2.5 Flash</a:t>
            </a:r>
          </a:p>
          <a:p>
            <a:pPr algn="just">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Uses real-time farm context, weather information, crop details, and Irrigation information to provide personalized agricultural assistance.</a:t>
            </a:r>
          </a:p>
          <a:p>
            <a:pPr algn="just">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Voice Assistance</a:t>
            </a:r>
            <a:endParaRPr lang="en-IN" sz="17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Speech-to-text and text-to-speech enable multilingual voice interaction.</a:t>
            </a:r>
          </a:p>
          <a:p>
            <a:pPr marL="88900" indent="0" algn="just">
              <a:buNone/>
            </a:pPr>
            <a:endParaRPr lang="en-IN" sz="1700" dirty="0">
              <a:latin typeface="Times New Roman" panose="02020603050405020304" pitchFamily="18" charset="0"/>
              <a:cs typeface="Times New Roman" panose="02020603050405020304" pitchFamily="18" charset="0"/>
            </a:endParaRPr>
          </a:p>
          <a:p>
            <a:pPr marL="88900" indent="0" algn="just">
              <a:buNone/>
            </a:pPr>
            <a:r>
              <a:rPr lang="en-IN" sz="1700" b="1" dirty="0">
                <a:latin typeface="Times New Roman" panose="02020603050405020304" pitchFamily="18" charset="0"/>
                <a:cs typeface="Times New Roman" panose="02020603050405020304" pitchFamily="18" charset="0"/>
              </a:rPr>
              <a:t>ML Components</a:t>
            </a:r>
          </a:p>
        </p:txBody>
      </p:sp>
      <p:graphicFrame>
        <p:nvGraphicFramePr>
          <p:cNvPr id="4" name="Table 3">
            <a:extLst>
              <a:ext uri="{FF2B5EF4-FFF2-40B4-BE49-F238E27FC236}">
                <a16:creationId xmlns:a16="http://schemas.microsoft.com/office/drawing/2014/main" id="{3F97337F-F6A7-CBC9-10F0-82D16011E503}"/>
              </a:ext>
            </a:extLst>
          </p:cNvPr>
          <p:cNvGraphicFramePr>
            <a:graphicFrameLocks noGrp="1"/>
          </p:cNvGraphicFramePr>
          <p:nvPr>
            <p:extLst>
              <p:ext uri="{D42A27DB-BD31-4B8C-83A1-F6EECF244321}">
                <p14:modId xmlns:p14="http://schemas.microsoft.com/office/powerpoint/2010/main" val="990736424"/>
              </p:ext>
            </p:extLst>
          </p:nvPr>
        </p:nvGraphicFramePr>
        <p:xfrm>
          <a:off x="422360" y="3659797"/>
          <a:ext cx="8521700" cy="2362200"/>
        </p:xfrm>
        <a:graphic>
          <a:graphicData uri="http://schemas.openxmlformats.org/drawingml/2006/table">
            <a:tbl>
              <a:tblPr>
                <a:tableStyleId>{5C22544A-7EE6-4342-B048-85BDC9FD1C3A}</a:tableStyleId>
              </a:tblPr>
              <a:tblGrid>
                <a:gridCol w="4260850">
                  <a:extLst>
                    <a:ext uri="{9D8B030D-6E8A-4147-A177-3AD203B41FA5}">
                      <a16:colId xmlns:a16="http://schemas.microsoft.com/office/drawing/2014/main" val="1601184347"/>
                    </a:ext>
                  </a:extLst>
                </a:gridCol>
                <a:gridCol w="4260850">
                  <a:extLst>
                    <a:ext uri="{9D8B030D-6E8A-4147-A177-3AD203B41FA5}">
                      <a16:colId xmlns:a16="http://schemas.microsoft.com/office/drawing/2014/main" val="3556245562"/>
                    </a:ext>
                  </a:extLst>
                </a:gridCol>
              </a:tblGrid>
              <a:tr h="0">
                <a:tc>
                  <a:txBody>
                    <a:bodyPr/>
                    <a:lstStyle/>
                    <a:p>
                      <a:pPr>
                        <a:buNone/>
                      </a:pPr>
                      <a:r>
                        <a:rPr lang="en-IN" sz="1700" b="1" dirty="0">
                          <a:latin typeface="Times New Roman" panose="02020603050405020304" pitchFamily="18" charset="0"/>
                          <a:cs typeface="Times New Roman" panose="02020603050405020304" pitchFamily="18" charset="0"/>
                        </a:rPr>
                        <a:t>Application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b="1" dirty="0">
                          <a:latin typeface="Times New Roman" panose="02020603050405020304" pitchFamily="18" charset="0"/>
                          <a:cs typeface="Times New Roman" panose="02020603050405020304" pitchFamily="18" charset="0"/>
                        </a:rPr>
                        <a:t>Model / Algorithm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31763054"/>
                  </a:ext>
                </a:extLst>
              </a:tr>
              <a:tr h="0">
                <a:tc>
                  <a:txBody>
                    <a:bodyPr/>
                    <a:lstStyle/>
                    <a:p>
                      <a:pPr>
                        <a:buNone/>
                      </a:pPr>
                      <a:r>
                        <a:rPr lang="en-IN" sz="1700" dirty="0">
                          <a:latin typeface="Times New Roman" panose="02020603050405020304" pitchFamily="18" charset="0"/>
                          <a:cs typeface="Times New Roman" panose="02020603050405020304" pitchFamily="18" charset="0"/>
                        </a:rPr>
                        <a:t>Crop Recommendation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a:latin typeface="Times New Roman" panose="02020603050405020304" pitchFamily="18" charset="0"/>
                          <a:cs typeface="Times New Roman" panose="02020603050405020304" pitchFamily="18" charset="0"/>
                        </a:rPr>
                        <a:t>Random Forest Classifier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2019496"/>
                  </a:ext>
                </a:extLst>
              </a:tr>
              <a:tr h="0">
                <a:tc>
                  <a:txBody>
                    <a:bodyPr/>
                    <a:lstStyle/>
                    <a:p>
                      <a:pPr>
                        <a:buNone/>
                      </a:pPr>
                      <a:r>
                        <a:rPr lang="en-IN" sz="1700" dirty="0">
                          <a:latin typeface="Times New Roman" panose="02020603050405020304" pitchFamily="18" charset="0"/>
                          <a:cs typeface="Times New Roman" panose="02020603050405020304" pitchFamily="18" charset="0"/>
                        </a:rPr>
                        <a:t>Crop Rotation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a:latin typeface="Times New Roman" panose="02020603050405020304" pitchFamily="18" charset="0"/>
                          <a:cs typeface="Times New Roman" panose="02020603050405020304" pitchFamily="18" charset="0"/>
                        </a:rPr>
                        <a:t>Hybrid ML + Rule-based Approach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7551416"/>
                  </a:ext>
                </a:extLst>
              </a:tr>
              <a:tr h="0">
                <a:tc>
                  <a:txBody>
                    <a:bodyPr/>
                    <a:lstStyle/>
                    <a:p>
                      <a:pPr>
                        <a:buNone/>
                      </a:pPr>
                      <a:r>
                        <a:rPr lang="en-IN" sz="1700" dirty="0">
                          <a:latin typeface="Times New Roman" panose="02020603050405020304" pitchFamily="18" charset="0"/>
                          <a:cs typeface="Times New Roman" panose="02020603050405020304" pitchFamily="18" charset="0"/>
                        </a:rPr>
                        <a:t>Crop Image Recognition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a:latin typeface="Times New Roman" panose="02020603050405020304" pitchFamily="18" charset="0"/>
                          <a:cs typeface="Times New Roman" panose="02020603050405020304" pitchFamily="18" charset="0"/>
                        </a:rPr>
                        <a:t>MobileNetV2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7788767"/>
                  </a:ext>
                </a:extLst>
              </a:tr>
              <a:tr h="0">
                <a:tc>
                  <a:txBody>
                    <a:bodyPr/>
                    <a:lstStyle/>
                    <a:p>
                      <a:pPr>
                        <a:buNone/>
                      </a:pPr>
                      <a:r>
                        <a:rPr lang="en-IN" sz="1700" dirty="0">
                          <a:latin typeface="Times New Roman" panose="02020603050405020304" pitchFamily="18" charset="0"/>
                          <a:cs typeface="Times New Roman" panose="02020603050405020304" pitchFamily="18" charset="0"/>
                        </a:rPr>
                        <a:t>Price 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a:latin typeface="Times New Roman" panose="02020603050405020304" pitchFamily="18" charset="0"/>
                          <a:cs typeface="Times New Roman" panose="02020603050405020304" pitchFamily="18" charset="0"/>
                        </a:rPr>
                        <a:t>Linear Regression / Trend Forecasting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6960069"/>
                  </a:ext>
                </a:extLst>
              </a:tr>
              <a:tr h="0">
                <a:tc>
                  <a:txBody>
                    <a:bodyPr/>
                    <a:lstStyle/>
                    <a:p>
                      <a:pPr>
                        <a:buNone/>
                      </a:pPr>
                      <a:r>
                        <a:rPr lang="en-IN" sz="1700" dirty="0">
                          <a:latin typeface="Times New Roman" panose="02020603050405020304" pitchFamily="18" charset="0"/>
                          <a:cs typeface="Times New Roman" panose="02020603050405020304" pitchFamily="18" charset="0"/>
                        </a:rPr>
                        <a:t>Irrigation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700" dirty="0">
                          <a:latin typeface="Times New Roman" panose="02020603050405020304" pitchFamily="18" charset="0"/>
                          <a:cs typeface="Times New Roman" panose="02020603050405020304" pitchFamily="18" charset="0"/>
                        </a:rPr>
                        <a:t>Hargreaves ET₀ + Kc + Rule-based Decision Logic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7753340"/>
                  </a:ext>
                </a:extLst>
              </a:tr>
            </a:tbl>
          </a:graphicData>
        </a:graphic>
      </p:graphicFrame>
    </p:spTree>
    <p:extLst>
      <p:ext uri="{BB962C8B-B14F-4D97-AF65-F5344CB8AC3E}">
        <p14:creationId xmlns:p14="http://schemas.microsoft.com/office/powerpoint/2010/main" val="282609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06A6B-A621-3BC3-CC04-6485FEE0376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Implementation - Screenshots</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797EE4D-AF58-4764-7254-3EF20A63143A}"/>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EA3C6FB4-419D-7EA5-91A4-DDC3A4D80C71}"/>
              </a:ext>
            </a:extLst>
          </p:cNvPr>
          <p:cNvPicPr>
            <a:picLocks noChangeAspect="1"/>
          </p:cNvPicPr>
          <p:nvPr/>
        </p:nvPicPr>
        <p:blipFill>
          <a:blip r:embed="rId2"/>
          <a:stretch>
            <a:fillRect/>
          </a:stretch>
        </p:blipFill>
        <p:spPr>
          <a:xfrm>
            <a:off x="311700" y="1536633"/>
            <a:ext cx="7298468" cy="3717657"/>
          </a:xfrm>
          <a:prstGeom prst="rect">
            <a:avLst/>
          </a:prstGeom>
        </p:spPr>
      </p:pic>
    </p:spTree>
    <p:extLst>
      <p:ext uri="{BB962C8B-B14F-4D97-AF65-F5344CB8AC3E}">
        <p14:creationId xmlns:p14="http://schemas.microsoft.com/office/powerpoint/2010/main" val="1753843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A86E1-20D3-B02A-5154-3832DC694960}"/>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F7BC316-D81C-1C15-E36A-8D9FE18233B2}"/>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14483CF4-95E3-5720-7D5D-5CE4828376C4}"/>
              </a:ext>
            </a:extLst>
          </p:cNvPr>
          <p:cNvPicPr>
            <a:picLocks noChangeAspect="1"/>
          </p:cNvPicPr>
          <p:nvPr/>
        </p:nvPicPr>
        <p:blipFill>
          <a:blip r:embed="rId2"/>
          <a:stretch>
            <a:fillRect/>
          </a:stretch>
        </p:blipFill>
        <p:spPr>
          <a:xfrm>
            <a:off x="3017520" y="3407128"/>
            <a:ext cx="5615070" cy="2684706"/>
          </a:xfrm>
          <a:prstGeom prst="rect">
            <a:avLst/>
          </a:prstGeom>
        </p:spPr>
      </p:pic>
      <p:pic>
        <p:nvPicPr>
          <p:cNvPr id="7" name="Picture 6">
            <a:extLst>
              <a:ext uri="{FF2B5EF4-FFF2-40B4-BE49-F238E27FC236}">
                <a16:creationId xmlns:a16="http://schemas.microsoft.com/office/drawing/2014/main" id="{C75E8C29-42A3-7EB8-5E5D-585BA268D25A}"/>
              </a:ext>
            </a:extLst>
          </p:cNvPr>
          <p:cNvPicPr>
            <a:picLocks noChangeAspect="1"/>
          </p:cNvPicPr>
          <p:nvPr/>
        </p:nvPicPr>
        <p:blipFill>
          <a:blip r:embed="rId3"/>
          <a:stretch>
            <a:fillRect/>
          </a:stretch>
        </p:blipFill>
        <p:spPr>
          <a:xfrm>
            <a:off x="235500" y="403860"/>
            <a:ext cx="5889496" cy="2797511"/>
          </a:xfrm>
          <a:prstGeom prst="rect">
            <a:avLst/>
          </a:prstGeom>
        </p:spPr>
      </p:pic>
    </p:spTree>
    <p:extLst>
      <p:ext uri="{BB962C8B-B14F-4D97-AF65-F5344CB8AC3E}">
        <p14:creationId xmlns:p14="http://schemas.microsoft.com/office/powerpoint/2010/main" val="403322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2A960-F0C0-E816-9478-CD69D3AE6872}"/>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 and Discussion</a:t>
            </a:r>
          </a:p>
        </p:txBody>
      </p:sp>
      <p:sp>
        <p:nvSpPr>
          <p:cNvPr id="3" name="Text Placeholder 2">
            <a:extLst>
              <a:ext uri="{FF2B5EF4-FFF2-40B4-BE49-F238E27FC236}">
                <a16:creationId xmlns:a16="http://schemas.microsoft.com/office/drawing/2014/main" id="{2EB003F3-1C92-B36C-5E35-CA912999901C}"/>
              </a:ext>
            </a:extLst>
          </p:cNvPr>
          <p:cNvSpPr>
            <a:spLocks noGrp="1"/>
          </p:cNvSpPr>
          <p:nvPr>
            <p:ph type="body" idx="1"/>
          </p:nvPr>
        </p:nvSpPr>
        <p:spPr/>
        <p:txBody>
          <a:bodyPr/>
          <a:lstStyle/>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The backend (Node.js/Express, MongoDB Atlas, JWT/</a:t>
            </a:r>
            <a:r>
              <a:rPr lang="en-IN" sz="1700" dirty="0" err="1">
                <a:latin typeface="Times New Roman" panose="02020603050405020304" pitchFamily="18" charset="0"/>
                <a:cs typeface="Times New Roman" panose="02020603050405020304" pitchFamily="18" charset="0"/>
              </a:rPr>
              <a:t>bcrypt</a:t>
            </a:r>
            <a:r>
              <a:rPr lang="en-IN" sz="1700" dirty="0">
                <a:latin typeface="Times New Roman" panose="02020603050405020304" pitchFamily="18" charset="0"/>
                <a:cs typeface="Times New Roman" panose="02020603050405020304" pitchFamily="18" charset="0"/>
              </a:rPr>
              <a:t> authentication) and the MQTT-based IoT pipeline are functional; sensor data is currently simulated pending real ESP32 hardware integration. </a:t>
            </a:r>
          </a:p>
          <a:p>
            <a:pPr marL="88900" lvl="0" indent="0">
              <a:buNone/>
            </a:pPr>
            <a:endParaRPr lang="en-IN" sz="17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The Random Forest crop-recommendation model achieves close to 99.55% test accuracy on Kaggle dataset, and Hargreaves ET₀-based irrigation engine produces weather-grounded scheduling recommendations. </a:t>
            </a:r>
          </a:p>
          <a:p>
            <a:pPr lvl="0">
              <a:buFont typeface="Arial" panose="020B0604020202020204" pitchFamily="34" charset="0"/>
              <a:buChar char="•"/>
            </a:pPr>
            <a:endParaRPr lang="en-IN" sz="17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The Flutter web and mobile frontend is wired to live backend data, with a working dashboard, an auto-generated farm calendar, and a throttled smart-alert system. </a:t>
            </a:r>
          </a:p>
          <a:p>
            <a:pPr lvl="0">
              <a:buFont typeface="Arial" panose="020B0604020202020204" pitchFamily="34" charset="0"/>
              <a:buChar char="•"/>
            </a:pPr>
            <a:endParaRPr lang="en-IN" sz="17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The Gemini 2.5 Flash-powered AI assistant maintains multi-turn conversation history and responds using real-time farm context; voice input/output work in English , Tamil , Telugu ,Malayalam and Hindi.</a:t>
            </a:r>
          </a:p>
        </p:txBody>
      </p:sp>
    </p:spTree>
    <p:extLst>
      <p:ext uri="{BB962C8B-B14F-4D97-AF65-F5344CB8AC3E}">
        <p14:creationId xmlns:p14="http://schemas.microsoft.com/office/powerpoint/2010/main" val="377234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4493B-EAB5-6FBE-A51E-BF19B9394FC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5DB92C65-6703-C890-B7CE-B5ECC037D43D}"/>
              </a:ext>
            </a:extLst>
          </p:cNvPr>
          <p:cNvSpPr>
            <a:spLocks noGrp="1"/>
          </p:cNvSpPr>
          <p:nvPr>
            <p:ph type="body" idx="1"/>
          </p:nvPr>
        </p:nvSpPr>
        <p:spPr/>
        <p:txBody>
          <a:bodyPr/>
          <a:lstStyle/>
          <a:p>
            <a:pPr lvl="0">
              <a:buFont typeface="Arial" panose="020B0604020202020204" pitchFamily="34" charset="0"/>
              <a:buChar char="•"/>
            </a:pPr>
            <a:r>
              <a:rPr lang="en-IN" sz="1700" dirty="0" err="1">
                <a:latin typeface="Times New Roman" panose="02020603050405020304" pitchFamily="18" charset="0"/>
                <a:cs typeface="Times New Roman" panose="02020603050405020304" pitchFamily="18" charset="0"/>
              </a:rPr>
              <a:t>AgriMitra</a:t>
            </a:r>
            <a:r>
              <a:rPr lang="en-IN" sz="1700" dirty="0">
                <a:latin typeface="Times New Roman" panose="02020603050405020304" pitchFamily="18" charset="0"/>
                <a:cs typeface="Times New Roman" panose="02020603050405020304" pitchFamily="18" charset="0"/>
              </a:rPr>
              <a:t> demonstrates that IoT-based monitoring, ML-driven crop and irrigation recommendations, image-based crop prediction, and multilingual voice interaction can be combined into a single platform for Indian farmers. </a:t>
            </a:r>
          </a:p>
          <a:p>
            <a:pPr lvl="0">
              <a:buFont typeface="Arial" panose="020B0604020202020204" pitchFamily="34" charset="0"/>
              <a:buChar char="•"/>
            </a:pPr>
            <a:endParaRPr lang="en-IN" sz="17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Testing so far shows high-accuracy crop-recommendation model, a working weather-grounded irrigation engine, and a functional multilingual conversational assistant, directly addressing the gaps found in the reviewed prior systems. </a:t>
            </a:r>
          </a:p>
          <a:p>
            <a:pPr lvl="0">
              <a:buFont typeface="Arial" panose="020B0604020202020204" pitchFamily="34" charset="0"/>
              <a:buChar char="•"/>
            </a:pPr>
            <a:endParaRPr lang="en-IN" sz="17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The project validates that combining rule-based and machine-learning approaches — chosen for viable-feasibility — is a practical strategy where data constraints limit purely ML-based solutions. </a:t>
            </a:r>
          </a:p>
          <a:p>
            <a:pPr>
              <a:buFont typeface="Arial" panose="020B0604020202020204" pitchFamily="34" charset="0"/>
              <a:buChar char="•"/>
            </a:pP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5753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D7A37-39C7-9A0C-48C0-95B7B2AF166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Future Scope</a:t>
            </a:r>
          </a:p>
        </p:txBody>
      </p:sp>
      <p:sp>
        <p:nvSpPr>
          <p:cNvPr id="3" name="Text Placeholder 2">
            <a:extLst>
              <a:ext uri="{FF2B5EF4-FFF2-40B4-BE49-F238E27FC236}">
                <a16:creationId xmlns:a16="http://schemas.microsoft.com/office/drawing/2014/main" id="{670F3233-B03E-4CF2-0CFB-659806CE1B1D}"/>
              </a:ext>
            </a:extLst>
          </p:cNvPr>
          <p:cNvSpPr>
            <a:spLocks noGrp="1"/>
          </p:cNvSpPr>
          <p:nvPr>
            <p:ph type="body" idx="1"/>
          </p:nvPr>
        </p:nvSpPr>
        <p:spPr/>
        <p:txBody>
          <a:bodyPr/>
          <a:lstStyle/>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Complete real ESP32 hardware integration to replace the currently simulated sensor data.</a:t>
            </a:r>
          </a:p>
          <a:p>
            <a:pPr marL="88900" lvl="0" indent="0">
              <a:buNone/>
            </a:pPr>
            <a:r>
              <a:rPr lang="en-IN" sz="1700" dirty="0">
                <a:latin typeface="Times New Roman" panose="02020603050405020304" pitchFamily="18" charset="0"/>
                <a:cs typeface="Times New Roman" panose="02020603050405020304" pitchFamily="18" charset="0"/>
              </a:rPr>
              <a:t> </a:t>
            </a: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Extend voice support to Kannada through the Bhashini API, and verify Tamil text-to-speech output across devices. </a:t>
            </a:r>
          </a:p>
          <a:p>
            <a:pPr marL="88900" lvl="0" indent="0">
              <a:buNone/>
            </a:pPr>
            <a:endParaRPr lang="en-IN" sz="17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Strengthen ML/DS credibility with a confusion matrix, multi-model comparison (</a:t>
            </a:r>
            <a:r>
              <a:rPr lang="en-IN" sz="1700" dirty="0" err="1">
                <a:latin typeface="Times New Roman" panose="02020603050405020304" pitchFamily="18" charset="0"/>
                <a:cs typeface="Times New Roman" panose="02020603050405020304" pitchFamily="18" charset="0"/>
              </a:rPr>
              <a:t>XGBoost</a:t>
            </a:r>
            <a:r>
              <a:rPr lang="en-IN" sz="1700" dirty="0">
                <a:latin typeface="Times New Roman" panose="02020603050405020304" pitchFamily="18" charset="0"/>
                <a:cs typeface="Times New Roman" panose="02020603050405020304" pitchFamily="18" charset="0"/>
              </a:rPr>
              <a:t>, SVM) for crop recommendation, and add Isolation Forest anomaly detection for sensor data. </a:t>
            </a:r>
          </a:p>
          <a:p>
            <a:pPr marL="88900" lvl="0" indent="0">
              <a:buNone/>
            </a:pPr>
            <a:endParaRPr lang="en-IN" sz="17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Optionally extend into crop disease detection, evaluated on </a:t>
            </a:r>
            <a:r>
              <a:rPr lang="en-IN" sz="1700" dirty="0" err="1">
                <a:latin typeface="Times New Roman" panose="02020603050405020304" pitchFamily="18" charset="0"/>
                <a:cs typeface="Times New Roman" panose="02020603050405020304" pitchFamily="18" charset="0"/>
              </a:rPr>
              <a:t>PlantVillage</a:t>
            </a:r>
            <a:r>
              <a:rPr lang="en-IN" sz="1700" dirty="0">
                <a:latin typeface="Times New Roman" panose="02020603050405020304" pitchFamily="18" charset="0"/>
                <a:cs typeface="Times New Roman" panose="02020603050405020304" pitchFamily="18" charset="0"/>
              </a:rPr>
              <a:t> and </a:t>
            </a:r>
            <a:r>
              <a:rPr lang="en-IN" sz="1700" dirty="0" err="1">
                <a:latin typeface="Times New Roman" panose="02020603050405020304" pitchFamily="18" charset="0"/>
                <a:cs typeface="Times New Roman" panose="02020603050405020304" pitchFamily="18" charset="0"/>
              </a:rPr>
              <a:t>PlantDoc</a:t>
            </a:r>
            <a:r>
              <a:rPr lang="en-IN" sz="1700" dirty="0">
                <a:latin typeface="Times New Roman" panose="02020603050405020304" pitchFamily="18" charset="0"/>
                <a:cs typeface="Times New Roman" panose="02020603050405020304" pitchFamily="18" charset="0"/>
              </a:rPr>
              <a:t> datasets to address the known lab-to-field generalization gap.</a:t>
            </a:r>
          </a:p>
          <a:p>
            <a:pPr>
              <a:buFont typeface="Arial" panose="020B0604020202020204" pitchFamily="34" charset="0"/>
              <a:buChar char="•"/>
            </a:pP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56686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C7A56-4F03-D4ED-E896-56127187B164}"/>
              </a:ext>
            </a:extLst>
          </p:cNvPr>
          <p:cNvSpPr>
            <a:spLocks noGrp="1"/>
          </p:cNvSpPr>
          <p:nvPr>
            <p:ph type="title"/>
          </p:nvPr>
        </p:nvSpPr>
        <p:spPr>
          <a:xfrm>
            <a:off x="311700" y="501927"/>
            <a:ext cx="8520600" cy="763500"/>
          </a:xfrm>
        </p:spPr>
        <p:txBody>
          <a:bodyPr/>
          <a:lstStyle/>
          <a:p>
            <a:r>
              <a:rPr lang="en-IN" dirty="0">
                <a:latin typeface="Times New Roman" panose="02020603050405020304" pitchFamily="18" charset="0"/>
                <a:cs typeface="Times New Roman" panose="02020603050405020304" pitchFamily="18" charset="0"/>
              </a:rPr>
              <a:t>Future Scope – Project Roadmap</a:t>
            </a:r>
          </a:p>
        </p:txBody>
      </p:sp>
      <p:sp>
        <p:nvSpPr>
          <p:cNvPr id="3" name="Text Placeholder 2">
            <a:extLst>
              <a:ext uri="{FF2B5EF4-FFF2-40B4-BE49-F238E27FC236}">
                <a16:creationId xmlns:a16="http://schemas.microsoft.com/office/drawing/2014/main" id="{C810FE7C-2695-5D1D-A29F-307FA79F9C48}"/>
              </a:ext>
            </a:extLst>
          </p:cNvPr>
          <p:cNvSpPr>
            <a:spLocks noGrp="1"/>
          </p:cNvSpPr>
          <p:nvPr>
            <p:ph type="body" idx="1"/>
          </p:nvPr>
        </p:nvSpPr>
        <p:spPr/>
        <p:txBody>
          <a:bodyPr/>
          <a:lstStyle/>
          <a:p>
            <a:endParaRPr lang="en-IN" dirty="0"/>
          </a:p>
        </p:txBody>
      </p:sp>
      <p:graphicFrame>
        <p:nvGraphicFramePr>
          <p:cNvPr id="4" name="Table 3">
            <a:extLst>
              <a:ext uri="{FF2B5EF4-FFF2-40B4-BE49-F238E27FC236}">
                <a16:creationId xmlns:a16="http://schemas.microsoft.com/office/drawing/2014/main" id="{1D9F8494-8FF4-3F99-EC08-548F7BB7A632}"/>
              </a:ext>
            </a:extLst>
          </p:cNvPr>
          <p:cNvGraphicFramePr>
            <a:graphicFrameLocks noGrp="1"/>
          </p:cNvGraphicFramePr>
          <p:nvPr>
            <p:extLst>
              <p:ext uri="{D42A27DB-BD31-4B8C-83A1-F6EECF244321}">
                <p14:modId xmlns:p14="http://schemas.microsoft.com/office/powerpoint/2010/main" val="1803851281"/>
              </p:ext>
            </p:extLst>
          </p:nvPr>
        </p:nvGraphicFramePr>
        <p:xfrm>
          <a:off x="491613" y="1150374"/>
          <a:ext cx="7915848" cy="5097503"/>
        </p:xfrm>
        <a:graphic>
          <a:graphicData uri="http://schemas.openxmlformats.org/drawingml/2006/table">
            <a:tbl>
              <a:tblPr>
                <a:tableStyleId>{5C22544A-7EE6-4342-B048-85BDC9FD1C3A}</a:tableStyleId>
              </a:tblPr>
              <a:tblGrid>
                <a:gridCol w="2638616">
                  <a:extLst>
                    <a:ext uri="{9D8B030D-6E8A-4147-A177-3AD203B41FA5}">
                      <a16:colId xmlns:a16="http://schemas.microsoft.com/office/drawing/2014/main" val="1849420097"/>
                    </a:ext>
                  </a:extLst>
                </a:gridCol>
                <a:gridCol w="2638616">
                  <a:extLst>
                    <a:ext uri="{9D8B030D-6E8A-4147-A177-3AD203B41FA5}">
                      <a16:colId xmlns:a16="http://schemas.microsoft.com/office/drawing/2014/main" val="3205035343"/>
                    </a:ext>
                  </a:extLst>
                </a:gridCol>
                <a:gridCol w="2638616">
                  <a:extLst>
                    <a:ext uri="{9D8B030D-6E8A-4147-A177-3AD203B41FA5}">
                      <a16:colId xmlns:a16="http://schemas.microsoft.com/office/drawing/2014/main" val="2347503228"/>
                    </a:ext>
                  </a:extLst>
                </a:gridCol>
              </a:tblGrid>
              <a:tr h="293662">
                <a:tc>
                  <a:txBody>
                    <a:bodyPr/>
                    <a:lstStyle/>
                    <a:p>
                      <a:pPr>
                        <a:buNone/>
                      </a:pPr>
                      <a:r>
                        <a:rPr lang="en-IN" sz="1300" b="1" dirty="0">
                          <a:latin typeface="Times New Roman" panose="02020603050405020304" pitchFamily="18" charset="0"/>
                          <a:cs typeface="Times New Roman" panose="02020603050405020304" pitchFamily="18" charset="0"/>
                        </a:rPr>
                        <a:t>Phase</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b="1">
                          <a:latin typeface="Times New Roman" panose="02020603050405020304" pitchFamily="18" charset="0"/>
                          <a:cs typeface="Times New Roman" panose="02020603050405020304" pitchFamily="18" charset="0"/>
                        </a:rPr>
                        <a:t>Duration</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b="1" dirty="0">
                          <a:latin typeface="Times New Roman" panose="02020603050405020304" pitchFamily="18" charset="0"/>
                          <a:cs typeface="Times New Roman" panose="02020603050405020304" pitchFamily="18" charset="0"/>
                        </a:rPr>
                        <a:t>Deliverable</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4186247"/>
                  </a:ext>
                </a:extLst>
              </a:tr>
              <a:tr h="501131">
                <a:tc>
                  <a:txBody>
                    <a:bodyPr/>
                    <a:lstStyle/>
                    <a:p>
                      <a:pPr>
                        <a:buNone/>
                      </a:pPr>
                      <a:r>
                        <a:rPr lang="en-IN" sz="1300">
                          <a:latin typeface="Times New Roman" panose="02020603050405020304" pitchFamily="18" charset="0"/>
                          <a:cs typeface="Times New Roman" panose="02020603050405020304" pitchFamily="18" charset="0"/>
                        </a:rPr>
                        <a:t>Requirement analysis &amp; literature review</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dirty="0">
                          <a:latin typeface="Times New Roman" panose="02020603050405020304" pitchFamily="18" charset="0"/>
                          <a:cs typeface="Times New Roman" panose="02020603050405020304" pitchFamily="18" charset="0"/>
                        </a:rPr>
                        <a:t>Week 1–2</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a:latin typeface="Times New Roman" panose="02020603050405020304" pitchFamily="18" charset="0"/>
                          <a:cs typeface="Times New Roman" panose="02020603050405020304" pitchFamily="18" charset="0"/>
                        </a:rPr>
                        <a:t>Finalized scope, reviewed prior work</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19610302"/>
                  </a:ext>
                </a:extLst>
              </a:tr>
              <a:tr h="501131">
                <a:tc>
                  <a:txBody>
                    <a:bodyPr/>
                    <a:lstStyle/>
                    <a:p>
                      <a:pPr>
                        <a:buNone/>
                      </a:pPr>
                      <a:r>
                        <a:rPr lang="en-IN" sz="1300">
                          <a:latin typeface="Times New Roman" panose="02020603050405020304" pitchFamily="18" charset="0"/>
                          <a:cs typeface="Times New Roman" panose="02020603050405020304" pitchFamily="18" charset="0"/>
                        </a:rPr>
                        <a:t>Hardware setup &amp; sensor integration</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a:latin typeface="Times New Roman" panose="02020603050405020304" pitchFamily="18" charset="0"/>
                          <a:cs typeface="Times New Roman" panose="02020603050405020304" pitchFamily="18" charset="0"/>
                        </a:rPr>
                        <a:t>Week 3–4</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a:latin typeface="Times New Roman" panose="02020603050405020304" pitchFamily="18" charset="0"/>
                          <a:cs typeface="Times New Roman" panose="02020603050405020304" pitchFamily="18" charset="0"/>
                        </a:rPr>
                        <a:t>ESP32 + sensors + relay + pump</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98321504"/>
                  </a:ext>
                </a:extLst>
              </a:tr>
              <a:tr h="501131">
                <a:tc>
                  <a:txBody>
                    <a:bodyPr/>
                    <a:lstStyle/>
                    <a:p>
                      <a:pPr>
                        <a:buNone/>
                      </a:pPr>
                      <a:r>
                        <a:rPr lang="en-IN" sz="1300">
                          <a:latin typeface="Times New Roman" panose="02020603050405020304" pitchFamily="18" charset="0"/>
                          <a:cs typeface="Times New Roman" panose="02020603050405020304" pitchFamily="18" charset="0"/>
                        </a:rPr>
                        <a:t>Backend &amp; database architecture</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a:latin typeface="Times New Roman" panose="02020603050405020304" pitchFamily="18" charset="0"/>
                          <a:cs typeface="Times New Roman" panose="02020603050405020304" pitchFamily="18" charset="0"/>
                        </a:rPr>
                        <a:t>Week 5–6</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a:latin typeface="Times New Roman" panose="02020603050405020304" pitchFamily="18" charset="0"/>
                          <a:cs typeface="Times New Roman" panose="02020603050405020304" pitchFamily="18" charset="0"/>
                        </a:rPr>
                        <a:t>MQTT pipeline, MongoDB, REST APIs</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39846507"/>
                  </a:ext>
                </a:extLst>
              </a:tr>
              <a:tr h="501131">
                <a:tc>
                  <a:txBody>
                    <a:bodyPr/>
                    <a:lstStyle/>
                    <a:p>
                      <a:pPr>
                        <a:buNone/>
                      </a:pPr>
                      <a:r>
                        <a:rPr lang="en-IN" sz="1300">
                          <a:latin typeface="Times New Roman" panose="02020603050405020304" pitchFamily="18" charset="0"/>
                          <a:cs typeface="Times New Roman" panose="02020603050405020304" pitchFamily="18" charset="0"/>
                        </a:rPr>
                        <a:t>Irrigation logic (ET₀ engine)</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dirty="0">
                          <a:latin typeface="Times New Roman" panose="02020603050405020304" pitchFamily="18" charset="0"/>
                          <a:cs typeface="Times New Roman" panose="02020603050405020304" pitchFamily="18" charset="0"/>
                        </a:rPr>
                        <a:t>Week 7–8</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a:latin typeface="Times New Roman" panose="02020603050405020304" pitchFamily="18" charset="0"/>
                          <a:cs typeface="Times New Roman" panose="02020603050405020304" pitchFamily="18" charset="0"/>
                        </a:rPr>
                        <a:t>Weather-grounded irrigation logic</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75834677"/>
                  </a:ext>
                </a:extLst>
              </a:tr>
              <a:tr h="501131">
                <a:tc>
                  <a:txBody>
                    <a:bodyPr/>
                    <a:lstStyle/>
                    <a:p>
                      <a:pPr>
                        <a:buNone/>
                      </a:pPr>
                      <a:r>
                        <a:rPr lang="en-IN" sz="1300">
                          <a:latin typeface="Times New Roman" panose="02020603050405020304" pitchFamily="18" charset="0"/>
                          <a:cs typeface="Times New Roman" panose="02020603050405020304" pitchFamily="18" charset="0"/>
                        </a:rPr>
                        <a:t>Crop recommendation ML model</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a:latin typeface="Times New Roman" panose="02020603050405020304" pitchFamily="18" charset="0"/>
                          <a:cs typeface="Times New Roman" panose="02020603050405020304" pitchFamily="18" charset="0"/>
                        </a:rPr>
                        <a:t>Week 9</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a:latin typeface="Times New Roman" panose="02020603050405020304" pitchFamily="18" charset="0"/>
                          <a:cs typeface="Times New Roman" panose="02020603050405020304" pitchFamily="18" charset="0"/>
                        </a:rPr>
                        <a:t>Trained and saved model (99.55% accuracy)</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53333462"/>
                  </a:ext>
                </a:extLst>
              </a:tr>
              <a:tr h="501131">
                <a:tc>
                  <a:txBody>
                    <a:bodyPr/>
                    <a:lstStyle/>
                    <a:p>
                      <a:pPr>
                        <a:buNone/>
                      </a:pPr>
                      <a:r>
                        <a:rPr lang="en-IN" sz="1300">
                          <a:latin typeface="Times New Roman" panose="02020603050405020304" pitchFamily="18" charset="0"/>
                          <a:cs typeface="Times New Roman" panose="02020603050405020304" pitchFamily="18" charset="0"/>
                        </a:rPr>
                        <a:t>Conversational AI + voice assistant</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a:latin typeface="Times New Roman" panose="02020603050405020304" pitchFamily="18" charset="0"/>
                          <a:cs typeface="Times New Roman" panose="02020603050405020304" pitchFamily="18" charset="0"/>
                        </a:rPr>
                        <a:t>Week 10–12</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a:latin typeface="Times New Roman" panose="02020603050405020304" pitchFamily="18" charset="0"/>
                          <a:cs typeface="Times New Roman" panose="02020603050405020304" pitchFamily="18" charset="0"/>
                        </a:rPr>
                        <a:t>Gemini-based, multilingual voice IO</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8456356"/>
                  </a:ext>
                </a:extLst>
              </a:tr>
              <a:tr h="501131">
                <a:tc>
                  <a:txBody>
                    <a:bodyPr/>
                    <a:lstStyle/>
                    <a:p>
                      <a:pPr>
                        <a:buNone/>
                      </a:pPr>
                      <a:r>
                        <a:rPr lang="en-IN" sz="1300">
                          <a:latin typeface="Times New Roman" panose="02020603050405020304" pitchFamily="18" charset="0"/>
                          <a:cs typeface="Times New Roman" panose="02020603050405020304" pitchFamily="18" charset="0"/>
                        </a:rPr>
                        <a:t>Authentication, alerts, farm calendar</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a:latin typeface="Times New Roman" panose="02020603050405020304" pitchFamily="18" charset="0"/>
                          <a:cs typeface="Times New Roman" panose="02020603050405020304" pitchFamily="18" charset="0"/>
                        </a:rPr>
                        <a:t>Week 13–14</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a:latin typeface="Times New Roman" panose="02020603050405020304" pitchFamily="18" charset="0"/>
                          <a:cs typeface="Times New Roman" panose="02020603050405020304" pitchFamily="18" charset="0"/>
                        </a:rPr>
                        <a:t>Secure authentication system, sensor alerts, scheduling</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3388213"/>
                  </a:ext>
                </a:extLst>
              </a:tr>
              <a:tr h="501131">
                <a:tc>
                  <a:txBody>
                    <a:bodyPr/>
                    <a:lstStyle/>
                    <a:p>
                      <a:pPr>
                        <a:buNone/>
                      </a:pPr>
                      <a:r>
                        <a:rPr lang="en-IN" sz="1300">
                          <a:latin typeface="Times New Roman" panose="02020603050405020304" pitchFamily="18" charset="0"/>
                          <a:cs typeface="Times New Roman" panose="02020603050405020304" pitchFamily="18" charset="0"/>
                        </a:rPr>
                        <a:t>Hardware-software full integration</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a:latin typeface="Times New Roman" panose="02020603050405020304" pitchFamily="18" charset="0"/>
                          <a:cs typeface="Times New Roman" panose="02020603050405020304" pitchFamily="18" charset="0"/>
                        </a:rPr>
                        <a:t>Week 15–16</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a:latin typeface="Times New Roman" panose="02020603050405020304" pitchFamily="18" charset="0"/>
                          <a:cs typeface="Times New Roman" panose="02020603050405020304" pitchFamily="18" charset="0"/>
                        </a:rPr>
                        <a:t>Real ESP32 replacing simulated sensor data</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08777870"/>
                  </a:ext>
                </a:extLst>
              </a:tr>
              <a:tr h="501131">
                <a:tc>
                  <a:txBody>
                    <a:bodyPr/>
                    <a:lstStyle/>
                    <a:p>
                      <a:pPr>
                        <a:buNone/>
                      </a:pPr>
                      <a:r>
                        <a:rPr lang="en-IN" sz="1300">
                          <a:latin typeface="Times New Roman" panose="02020603050405020304" pitchFamily="18" charset="0"/>
                          <a:cs typeface="Times New Roman" panose="02020603050405020304" pitchFamily="18" charset="0"/>
                        </a:rPr>
                        <a:t>Testing, refinement, documentation</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a:latin typeface="Times New Roman" panose="02020603050405020304" pitchFamily="18" charset="0"/>
                          <a:cs typeface="Times New Roman" panose="02020603050405020304" pitchFamily="18" charset="0"/>
                        </a:rPr>
                        <a:t>Week 17–18</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a:latin typeface="Times New Roman" panose="02020603050405020304" pitchFamily="18" charset="0"/>
                          <a:cs typeface="Times New Roman" panose="02020603050405020304" pitchFamily="18" charset="0"/>
                        </a:rPr>
                        <a:t>End-to-end testing, report writing</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1541079"/>
                  </a:ext>
                </a:extLst>
              </a:tr>
              <a:tr h="293662">
                <a:tc>
                  <a:txBody>
                    <a:bodyPr/>
                    <a:lstStyle/>
                    <a:p>
                      <a:pPr>
                        <a:buNone/>
                      </a:pPr>
                      <a:r>
                        <a:rPr lang="en-IN" sz="1300">
                          <a:latin typeface="Times New Roman" panose="02020603050405020304" pitchFamily="18" charset="0"/>
                          <a:cs typeface="Times New Roman" panose="02020603050405020304" pitchFamily="18" charset="0"/>
                        </a:rPr>
                        <a:t>Final review &amp; viva preparation</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a:latin typeface="Times New Roman" panose="02020603050405020304" pitchFamily="18" charset="0"/>
                          <a:cs typeface="Times New Roman" panose="02020603050405020304" pitchFamily="18" charset="0"/>
                        </a:rPr>
                        <a:t>Week 19+</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300" dirty="0">
                          <a:latin typeface="Times New Roman" panose="02020603050405020304" pitchFamily="18" charset="0"/>
                          <a:cs typeface="Times New Roman" panose="02020603050405020304" pitchFamily="18" charset="0"/>
                        </a:rPr>
                        <a:t>Presentation, demo readiness</a:t>
                      </a:r>
                    </a:p>
                  </a:txBody>
                  <a:tcPr marL="82311" marR="82311" marT="41155" marB="411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98852909"/>
                  </a:ext>
                </a:extLst>
              </a:tr>
            </a:tbl>
          </a:graphicData>
        </a:graphic>
      </p:graphicFrame>
    </p:spTree>
    <p:extLst>
      <p:ext uri="{BB962C8B-B14F-4D97-AF65-F5344CB8AC3E}">
        <p14:creationId xmlns:p14="http://schemas.microsoft.com/office/powerpoint/2010/main" val="1476822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A1839-D63E-1FCC-FCE9-5EE14650334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Proposed Solution</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5788BD4-FC7B-D421-8A31-155E38A7F005}"/>
              </a:ext>
            </a:extLst>
          </p:cNvPr>
          <p:cNvSpPr>
            <a:spLocks noGrp="1"/>
          </p:cNvSpPr>
          <p:nvPr>
            <p:ph type="body" idx="1"/>
          </p:nvPr>
        </p:nvSpPr>
        <p:spPr/>
        <p:txBody>
          <a:bodyPr/>
          <a:lstStyle/>
          <a:p>
            <a:pPr algn="just">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The platform provides machine learning-based crop recommendations and crop rotation plans by considering soil suitability, previous crops, and relevant agricultural factors.</a:t>
            </a:r>
          </a:p>
          <a:p>
            <a:pPr marL="88900" indent="0" algn="just">
              <a:buNone/>
            </a:pPr>
            <a:endParaRPr lang="en-IN" sz="17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The system identifies crops from images and provides crop price estimates and future price trends using market data from AGMARKNET.</a:t>
            </a:r>
          </a:p>
          <a:p>
            <a:pPr marL="88900" indent="0" algn="just">
              <a:buNone/>
            </a:pPr>
            <a:endParaRPr lang="en-IN" sz="17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1700" dirty="0" err="1">
                <a:latin typeface="Times New Roman" panose="02020603050405020304" pitchFamily="18" charset="0"/>
                <a:cs typeface="Times New Roman" panose="02020603050405020304" pitchFamily="18" charset="0"/>
              </a:rPr>
              <a:t>AgriMitra</a:t>
            </a:r>
            <a:r>
              <a:rPr lang="en-IN" sz="1700" dirty="0">
                <a:latin typeface="Times New Roman" panose="02020603050405020304" pitchFamily="18" charset="0"/>
                <a:cs typeface="Times New Roman" panose="02020603050405020304" pitchFamily="18" charset="0"/>
              </a:rPr>
              <a:t> monitors real-time soil moisture, temperature, humidity, and weather conditions to provide farmers with up-to-date information about their farm environment.</a:t>
            </a:r>
          </a:p>
          <a:p>
            <a:pPr marL="88900" indent="0" algn="just">
              <a:buNone/>
            </a:pPr>
            <a:endParaRPr lang="en-IN" sz="17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The system determines irrigation requirements using Hargreaves ET₀, crop coefficient (Kc), crop growth stage, soil moisture, and rainfall probability.</a:t>
            </a:r>
          </a:p>
          <a:p>
            <a:pPr marL="88900" indent="0" algn="just">
              <a:buNone/>
            </a:pPr>
            <a:endParaRPr lang="en-IN" sz="17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A Gemini 2.5 Flash-powered AI assistant uses real-time farm data to provide personalized agricultural guidance through multilingual text and voice interaction.</a:t>
            </a:r>
          </a:p>
        </p:txBody>
      </p:sp>
    </p:spTree>
    <p:extLst>
      <p:ext uri="{BB962C8B-B14F-4D97-AF65-F5344CB8AC3E}">
        <p14:creationId xmlns:p14="http://schemas.microsoft.com/office/powerpoint/2010/main" val="36958102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21257-A4FA-8CBC-8735-CBE3F1ECCDD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References</a:t>
            </a:r>
          </a:p>
        </p:txBody>
      </p:sp>
      <p:sp>
        <p:nvSpPr>
          <p:cNvPr id="3" name="Text Placeholder 2">
            <a:extLst>
              <a:ext uri="{FF2B5EF4-FFF2-40B4-BE49-F238E27FC236}">
                <a16:creationId xmlns:a16="http://schemas.microsoft.com/office/drawing/2014/main" id="{3FB8AB5A-5719-4BBB-732B-1CF4B7DB519F}"/>
              </a:ext>
            </a:extLst>
          </p:cNvPr>
          <p:cNvSpPr>
            <a:spLocks noGrp="1"/>
          </p:cNvSpPr>
          <p:nvPr>
            <p:ph type="body" idx="1"/>
          </p:nvPr>
        </p:nvSpPr>
        <p:spPr/>
        <p:txBody>
          <a:bodyPr/>
          <a:lstStyle/>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El </a:t>
            </a:r>
            <a:r>
              <a:rPr lang="en-IN" sz="1700" dirty="0" err="1">
                <a:latin typeface="Times New Roman" panose="02020603050405020304" pitchFamily="18" charset="0"/>
                <a:cs typeface="Times New Roman" panose="02020603050405020304" pitchFamily="18" charset="0"/>
              </a:rPr>
              <a:t>Mezouari</a:t>
            </a:r>
            <a:r>
              <a:rPr lang="en-IN" sz="1700" dirty="0">
                <a:latin typeface="Times New Roman" panose="02020603050405020304" pitchFamily="18" charset="0"/>
                <a:cs typeface="Times New Roman" panose="02020603050405020304" pitchFamily="18" charset="0"/>
              </a:rPr>
              <a:t>, A. E., </a:t>
            </a:r>
            <a:r>
              <a:rPr lang="en-IN" sz="1700" dirty="0" err="1">
                <a:latin typeface="Times New Roman" panose="02020603050405020304" pitchFamily="18" charset="0"/>
                <a:cs typeface="Times New Roman" panose="02020603050405020304" pitchFamily="18" charset="0"/>
              </a:rPr>
              <a:t>Fazziki</a:t>
            </a:r>
            <a:r>
              <a:rPr lang="en-IN" sz="1700" dirty="0">
                <a:latin typeface="Times New Roman" panose="02020603050405020304" pitchFamily="18" charset="0"/>
                <a:cs typeface="Times New Roman" panose="02020603050405020304" pitchFamily="18" charset="0"/>
              </a:rPr>
              <a:t>, A. E., and </a:t>
            </a:r>
            <a:r>
              <a:rPr lang="en-IN" sz="1700" dirty="0" err="1">
                <a:latin typeface="Times New Roman" panose="02020603050405020304" pitchFamily="18" charset="0"/>
                <a:cs typeface="Times New Roman" panose="02020603050405020304" pitchFamily="18" charset="0"/>
              </a:rPr>
              <a:t>Sadgal</a:t>
            </a:r>
            <a:r>
              <a:rPr lang="en-IN" sz="1700" dirty="0">
                <a:latin typeface="Times New Roman" panose="02020603050405020304" pitchFamily="18" charset="0"/>
                <a:cs typeface="Times New Roman" panose="02020603050405020304" pitchFamily="18" charset="0"/>
              </a:rPr>
              <a:t>, M., “Smart Irrigation System,” </a:t>
            </a:r>
            <a:r>
              <a:rPr lang="en-IN" sz="1700" i="1" dirty="0">
                <a:latin typeface="Times New Roman" panose="02020603050405020304" pitchFamily="18" charset="0"/>
                <a:cs typeface="Times New Roman" panose="02020603050405020304" pitchFamily="18" charset="0"/>
              </a:rPr>
              <a:t>IFAC-</a:t>
            </a:r>
            <a:r>
              <a:rPr lang="en-IN" sz="1700" i="1" dirty="0" err="1">
                <a:latin typeface="Times New Roman" panose="02020603050405020304" pitchFamily="18" charset="0"/>
                <a:cs typeface="Times New Roman" panose="02020603050405020304" pitchFamily="18" charset="0"/>
              </a:rPr>
              <a:t>PapersOnLine</a:t>
            </a:r>
            <a:r>
              <a:rPr lang="en-IN" sz="1700" dirty="0">
                <a:latin typeface="Times New Roman" panose="02020603050405020304" pitchFamily="18" charset="0"/>
                <a:cs typeface="Times New Roman" panose="02020603050405020304" pitchFamily="18" charset="0"/>
              </a:rPr>
              <a:t>, vol. 55, no. 10, pp. 3298–3303, 2022. DOI: 10.1016/j.ifacol.2022.10.125. </a:t>
            </a:r>
          </a:p>
          <a:p>
            <a:pPr lvl="0">
              <a:buFont typeface="Arial" panose="020B0604020202020204" pitchFamily="34" charset="0"/>
              <a:buChar char="•"/>
            </a:pPr>
            <a:endParaRPr lang="en-IN" sz="17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700" dirty="0" err="1">
                <a:latin typeface="Times New Roman" panose="02020603050405020304" pitchFamily="18" charset="0"/>
                <a:cs typeface="Times New Roman" panose="02020603050405020304" pitchFamily="18" charset="0"/>
              </a:rPr>
              <a:t>Badreleen</a:t>
            </a:r>
            <a:r>
              <a:rPr lang="en-IN" sz="1700" dirty="0">
                <a:latin typeface="Times New Roman" panose="02020603050405020304" pitchFamily="18" charset="0"/>
                <a:cs typeface="Times New Roman" panose="02020603050405020304" pitchFamily="18" charset="0"/>
              </a:rPr>
              <a:t> et al., “Smart irrigation system based on IoT and machine learning,” </a:t>
            </a:r>
            <a:r>
              <a:rPr lang="en-IN" sz="1700" i="1" dirty="0">
                <a:latin typeface="Times New Roman" panose="02020603050405020304" pitchFamily="18" charset="0"/>
                <a:cs typeface="Times New Roman" panose="02020603050405020304" pitchFamily="18" charset="0"/>
              </a:rPr>
              <a:t>Smart Agricultural Technology</a:t>
            </a:r>
            <a:r>
              <a:rPr lang="en-IN" sz="1700" dirty="0">
                <a:latin typeface="Times New Roman" panose="02020603050405020304" pitchFamily="18" charset="0"/>
                <a:cs typeface="Times New Roman" panose="02020603050405020304" pitchFamily="18" charset="0"/>
              </a:rPr>
              <a:t>, vol. 3, 2022. DOI: 10.1016/j.s.2022.100147. </a:t>
            </a:r>
          </a:p>
          <a:p>
            <a:pPr lvl="0">
              <a:buFont typeface="Arial" panose="020B0604020202020204" pitchFamily="34" charset="0"/>
              <a:buChar char="•"/>
            </a:pPr>
            <a:endParaRPr lang="en-IN" sz="17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AI4Bharat — </a:t>
            </a:r>
            <a:r>
              <a:rPr lang="en-IN" sz="1700" dirty="0" err="1">
                <a:latin typeface="Times New Roman" panose="02020603050405020304" pitchFamily="18" charset="0"/>
                <a:cs typeface="Times New Roman" panose="02020603050405020304" pitchFamily="18" charset="0"/>
              </a:rPr>
              <a:t>IndicTrans</a:t>
            </a:r>
            <a:r>
              <a:rPr lang="en-IN" sz="1700" dirty="0">
                <a:latin typeface="Times New Roman" panose="02020603050405020304" pitchFamily="18" charset="0"/>
                <a:cs typeface="Times New Roman" panose="02020603050405020304" pitchFamily="18" charset="0"/>
              </a:rPr>
              <a:t>: Open-source speech models for Indian languages, IIT Madras. </a:t>
            </a:r>
          </a:p>
          <a:p>
            <a:pPr lvl="0">
              <a:buFont typeface="Arial" panose="020B0604020202020204" pitchFamily="34" charset="0"/>
              <a:buChar char="•"/>
            </a:pPr>
            <a:endParaRPr lang="en-IN" sz="17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Kaggle Crop Recommendation Dataset — N-P-K, temperature, humidity, pH, rainfall crop label dataset. </a:t>
            </a:r>
          </a:p>
          <a:p>
            <a:pPr>
              <a:buFont typeface="Arial" panose="020B0604020202020204" pitchFamily="34" charset="0"/>
              <a:buChar char="•"/>
            </a:pP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97827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1421A-12BE-2262-0531-C6EFEB16F94B}"/>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14534C36-E0A9-BD89-254A-EA94B9EDA6A4}"/>
              </a:ext>
            </a:extLst>
          </p:cNvPr>
          <p:cNvSpPr>
            <a:spLocks noGrp="1"/>
          </p:cNvSpPr>
          <p:nvPr>
            <p:ph type="body" idx="1"/>
          </p:nvPr>
        </p:nvSpPr>
        <p:spPr/>
        <p:txBody>
          <a:bodyPr/>
          <a:lstStyle/>
          <a:p>
            <a:pPr algn="ctr"/>
            <a:endParaRPr lang="en-US" sz="4000" b="1" dirty="0">
              <a:latin typeface="Times New Roman" panose="02020603050405020304" pitchFamily="18" charset="0"/>
              <a:cs typeface="Times New Roman" panose="02020603050405020304" pitchFamily="18" charset="0"/>
            </a:endParaRPr>
          </a:p>
          <a:p>
            <a:pPr marL="88900" indent="0" algn="ctr">
              <a:buNone/>
            </a:pPr>
            <a:endParaRPr lang="en-IN" sz="4000" b="1" dirty="0">
              <a:latin typeface="Times New Roman" panose="02020603050405020304" pitchFamily="18" charset="0"/>
              <a:cs typeface="Times New Roman" panose="02020603050405020304" pitchFamily="18" charset="0"/>
            </a:endParaRPr>
          </a:p>
          <a:p>
            <a:pPr marL="88900" indent="0" algn="ctr">
              <a:buNone/>
            </a:pPr>
            <a:r>
              <a:rPr lang="en-IN" sz="40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34229155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1387</TotalTime>
  <Words>1681</Words>
  <Application>Microsoft Office PowerPoint</Application>
  <PresentationFormat>On-screen Show (4:3)</PresentationFormat>
  <Paragraphs>215</Paragraphs>
  <Slides>22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Times New Roman</vt:lpstr>
      <vt:lpstr>Arial</vt:lpstr>
      <vt:lpstr>Archivo Narrow</vt:lpstr>
      <vt:lpstr>Georgia</vt:lpstr>
      <vt:lpstr>Simple Light</vt:lpstr>
      <vt:lpstr>AGRIMITRA : AI-Powered Smart Farming Assistant</vt:lpstr>
      <vt:lpstr>Agenda</vt:lpstr>
      <vt:lpstr>Abstract</vt:lpstr>
      <vt:lpstr>Introduction</vt:lpstr>
      <vt:lpstr>Literature Review</vt:lpstr>
      <vt:lpstr>Gap Identified</vt:lpstr>
      <vt:lpstr>Problem Statement</vt:lpstr>
      <vt:lpstr>Proposed Model</vt:lpstr>
      <vt:lpstr>Design - System Architecture</vt:lpstr>
      <vt:lpstr>Design - Modules</vt:lpstr>
      <vt:lpstr>Implementation -Hardware and Software Requirements</vt:lpstr>
      <vt:lpstr>Implementation - Software Stack</vt:lpstr>
      <vt:lpstr>Implementation - AI &amp; ML Components</vt:lpstr>
      <vt:lpstr>Implementation - Screenshots</vt:lpstr>
      <vt:lpstr>PowerPoint Presentation</vt:lpstr>
      <vt:lpstr>Result and Discussion</vt:lpstr>
      <vt:lpstr>Conclusion</vt:lpstr>
      <vt:lpstr>Future Scope</vt:lpstr>
      <vt:lpstr>Future Scope – Project Roadmap</vt:lpstr>
      <vt:lpstr>Proposed Solution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Process and Project Management (CS832E02)</dc:title>
  <dc:creator>Bijeesh</dc:creator>
  <cp:lastModifiedBy>Gowri Chandana</cp:lastModifiedBy>
  <cp:revision>61</cp:revision>
  <dcterms:modified xsi:type="dcterms:W3CDTF">2026-09-22T05:30:50Z</dcterms:modified>
</cp:coreProperties>
</file>