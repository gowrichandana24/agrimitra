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65" r:id="rId4"/>
    <p:sldId id="266" r:id="rId5"/>
    <p:sldId id="290" r:id="rId6"/>
    <p:sldId id="292" r:id="rId7"/>
    <p:sldId id="293" r:id="rId8"/>
    <p:sldId id="294" r:id="rId9"/>
    <p:sldId id="295" r:id="rId10"/>
    <p:sldId id="261" r:id="rId11"/>
    <p:sldId id="291" r:id="rId12"/>
    <p:sldId id="296" r:id="rId13"/>
    <p:sldId id="297" r:id="rId14"/>
    <p:sldId id="298" r:id="rId15"/>
    <p:sldId id="263" r:id="rId16"/>
    <p:sldId id="288" r:id="rId17"/>
  </p:sldIdLst>
  <p:sldSz cx="9144000" cy="6858000" type="screen4x3"/>
  <p:notesSz cx="6858000" cy="9144000"/>
  <p:embeddedFontLst>
    <p:embeddedFont>
      <p:font typeface="Archivo Narrow" panose="020B0604020202020204" charset="0"/>
      <p:regular r:id="rId19"/>
      <p:bold r:id="rId20"/>
      <p:italic r:id="rId21"/>
      <p:boldItalic r:id="rId22"/>
    </p:embeddedFont>
    <p:embeddedFont>
      <p:font typeface="Book Antiqua" panose="02040602050305030304" pitchFamily="18" charset="0"/>
      <p:regular r:id="rId23"/>
      <p:bold r:id="rId24"/>
      <p:italic r:id="rId25"/>
      <p:boldItalic r:id="rId26"/>
    </p:embeddedFont>
    <p:embeddedFont>
      <p:font typeface="Georgia" panose="02040502050405020303" pitchFamily="18"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2386"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20754475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Shape 1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9" name="Shape 10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39183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Shape 11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5" name="Shape 11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454074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451497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562126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5731999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0" y="1886797"/>
            <a:ext cx="8520600" cy="1842900"/>
          </a:xfrm>
          <a:prstGeom prst="rect">
            <a:avLst/>
          </a:prstGeom>
        </p:spPr>
        <p:txBody>
          <a:bodyPr spcFirstLastPara="1" wrap="square" lIns="91425" tIns="91425" rIns="91425" bIns="91425" anchor="b"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 name="Shape 11"/>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13" name="Shape 13"/>
          <p:cNvSpPr/>
          <p:nvPr/>
        </p:nvSpPr>
        <p:spPr>
          <a:xfrm flipH="1">
            <a:off x="18" y="67300"/>
            <a:ext cx="9143982" cy="1420254"/>
          </a:xfrm>
          <a:prstGeom prst="flowChartDocumen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 name="Shape 14"/>
          <p:cNvSpPr/>
          <p:nvPr/>
        </p:nvSpPr>
        <p:spPr>
          <a:xfrm flipH="1">
            <a:off x="18" y="0"/>
            <a:ext cx="9143982" cy="1420254"/>
          </a:xfrm>
          <a:prstGeom prst="flowChartDocument">
            <a:avLst/>
          </a:prstGeom>
          <a:solidFill>
            <a:srgbClr val="0B539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15" name="Shape 15"/>
          <p:cNvPicPr preferRelativeResize="0"/>
          <p:nvPr/>
        </p:nvPicPr>
        <p:blipFill>
          <a:blip r:embed="rId2">
            <a:alphaModFix/>
          </a:blip>
          <a:stretch>
            <a:fillRect/>
          </a:stretch>
        </p:blipFill>
        <p:spPr>
          <a:xfrm>
            <a:off x="6090546" y="342390"/>
            <a:ext cx="2463805" cy="779367"/>
          </a:xfrm>
          <a:prstGeom prst="rect">
            <a:avLst/>
          </a:prstGeom>
          <a:noFill/>
          <a:ln>
            <a:noFill/>
          </a:ln>
        </p:spPr>
      </p:pic>
      <p:sp>
        <p:nvSpPr>
          <p:cNvPr id="16" name="Shape 16"/>
          <p:cNvSpPr/>
          <p:nvPr/>
        </p:nvSpPr>
        <p:spPr>
          <a:xfrm>
            <a:off x="-11025" y="5919900"/>
            <a:ext cx="9155100" cy="9381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 name="Shape 17"/>
          <p:cNvSpPr txBox="1"/>
          <p:nvPr/>
        </p:nvSpPr>
        <p:spPr>
          <a:xfrm>
            <a:off x="25" y="5919900"/>
            <a:ext cx="35721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MISSION</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CHRIST is a nurturing ground for an individual’s holistic development to make effective contribution to the society in a dynamic environment</a:t>
            </a:r>
            <a:endParaRPr sz="1100">
              <a:solidFill>
                <a:srgbClr val="FFFFFF"/>
              </a:solidFill>
              <a:latin typeface="Georgia"/>
              <a:ea typeface="Georgia"/>
              <a:cs typeface="Georgia"/>
              <a:sym typeface="Georgia"/>
            </a:endParaRPr>
          </a:p>
        </p:txBody>
      </p:sp>
      <p:sp>
        <p:nvSpPr>
          <p:cNvPr id="18" name="Shape 18"/>
          <p:cNvSpPr txBox="1"/>
          <p:nvPr/>
        </p:nvSpPr>
        <p:spPr>
          <a:xfrm>
            <a:off x="3709075" y="5919900"/>
            <a:ext cx="2030700" cy="64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VISION</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Excellence and Service</a:t>
            </a:r>
            <a:endParaRPr sz="1100">
              <a:solidFill>
                <a:srgbClr val="FFFFFF"/>
              </a:solidFill>
              <a:latin typeface="Georgia"/>
              <a:ea typeface="Georgia"/>
              <a:cs typeface="Georgia"/>
              <a:sym typeface="Georgia"/>
            </a:endParaRPr>
          </a:p>
        </p:txBody>
      </p:sp>
      <p:sp>
        <p:nvSpPr>
          <p:cNvPr id="19" name="Shape 19"/>
          <p:cNvSpPr txBox="1"/>
          <p:nvPr/>
        </p:nvSpPr>
        <p:spPr>
          <a:xfrm>
            <a:off x="6067875" y="5919900"/>
            <a:ext cx="29844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FFFFFF"/>
                </a:solidFill>
                <a:latin typeface="Georgia"/>
                <a:ea typeface="Georgia"/>
                <a:cs typeface="Georgia"/>
                <a:sym typeface="Georgia"/>
              </a:rPr>
              <a:t>CORE  VALUES</a:t>
            </a:r>
            <a:endParaRPr b="1">
              <a:solidFill>
                <a:srgbClr val="FFFFFF"/>
              </a:solidFill>
              <a:latin typeface="Georgia"/>
              <a:ea typeface="Georgia"/>
              <a:cs typeface="Georgia"/>
              <a:sym typeface="Georgia"/>
            </a:endParaRPr>
          </a:p>
          <a:p>
            <a:pPr marL="0" lvl="0" indent="0" algn="ctr" rtl="0">
              <a:spcBef>
                <a:spcPts val="0"/>
              </a:spcBef>
              <a:spcAft>
                <a:spcPts val="0"/>
              </a:spcAft>
              <a:buNone/>
            </a:pPr>
            <a:r>
              <a:rPr lang="en-GB" sz="1100">
                <a:solidFill>
                  <a:srgbClr val="FFFFFF"/>
                </a:solidFill>
                <a:latin typeface="Georgia"/>
                <a:ea typeface="Georgia"/>
                <a:cs typeface="Georgia"/>
                <a:sym typeface="Georgia"/>
              </a:rPr>
              <a:t>Faith in God |  Moral Uprightness</a:t>
            </a:r>
            <a:br>
              <a:rPr lang="en-GB" sz="1100">
                <a:solidFill>
                  <a:srgbClr val="FFFFFF"/>
                </a:solidFill>
                <a:latin typeface="Georgia"/>
                <a:ea typeface="Georgia"/>
                <a:cs typeface="Georgia"/>
                <a:sym typeface="Georgia"/>
              </a:rPr>
            </a:br>
            <a:r>
              <a:rPr lang="en-GB" sz="1100">
                <a:solidFill>
                  <a:srgbClr val="FFFFFF"/>
                </a:solidFill>
                <a:latin typeface="Georgia"/>
                <a:ea typeface="Georgia"/>
                <a:cs typeface="Georgia"/>
                <a:sym typeface="Georgia"/>
              </a:rPr>
              <a:t> Love of Fellow Beings   </a:t>
            </a:r>
            <a:br>
              <a:rPr lang="en-GB" sz="1100">
                <a:solidFill>
                  <a:srgbClr val="FFFFFF"/>
                </a:solidFill>
                <a:latin typeface="Georgia"/>
                <a:ea typeface="Georgia"/>
                <a:cs typeface="Georgia"/>
                <a:sym typeface="Georgia"/>
              </a:rPr>
            </a:br>
            <a:r>
              <a:rPr lang="en-GB" sz="1100">
                <a:solidFill>
                  <a:srgbClr val="FFFFFF"/>
                </a:solidFill>
                <a:latin typeface="Georgia"/>
                <a:ea typeface="Georgia"/>
                <a:cs typeface="Georgia"/>
                <a:sym typeface="Georgia"/>
              </a:rPr>
              <a:t>Social Responsibility | Pursuit of Excellence</a:t>
            </a:r>
            <a:endParaRPr sz="1100">
              <a:solidFill>
                <a:srgbClr val="FFFFFF"/>
              </a:solidFill>
              <a:latin typeface="Georgia"/>
              <a:ea typeface="Georgia"/>
              <a:cs typeface="Georgia"/>
              <a:sym typeface="Georgi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Shape 2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23" name="Shape 23"/>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 name="Shape 24"/>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25" name="Shape 25"/>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 name="Shape 26"/>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 name="Shape 27"/>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Shape 30"/>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31" name="Shape 3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32" name="Shape 3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3" name="Shape 3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34" name="Shape 3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5" name="Shape 3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36" name="Shape 3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9" name="Shape 4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50" name="Shape 50"/>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1" name="Shape 51"/>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52" name="Shape 52"/>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3" name="Shape 53"/>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54" name="Shape 54"/>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Shape 56"/>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7" name="Shape 57"/>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58" name="Shape 5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59" name="Shape 59"/>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0" name="Shape 60"/>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61" name="Shape 61"/>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2" name="Shape 62"/>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3" name="Shape 63"/>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66" name="Shape 6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67" name="Shape 67"/>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68" name="Shape 68"/>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69" name="Shape 69"/>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0" name="Shape 70"/>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1" name="Shape 71"/>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2"/>
        <p:cNvGrpSpPr/>
        <p:nvPr/>
      </p:nvGrpSpPr>
      <p:grpSpPr>
        <a:xfrm>
          <a:off x="0" y="0"/>
          <a:ext cx="0" cy="0"/>
          <a:chOff x="0" y="0"/>
          <a:chExt cx="0" cy="0"/>
        </a:xfrm>
      </p:grpSpPr>
      <p:sp>
        <p:nvSpPr>
          <p:cNvPr id="73" name="Shape 73"/>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4" name="Shape 74"/>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5" name="Shape 75"/>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6" name="Shape 76"/>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77" name="Shape 7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78" name="Shape 78"/>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79" name="Shape 79"/>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80" name="Shape 80"/>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1" name="Shape 81"/>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 name="Shape 82"/>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Shape 84"/>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2200"/>
              <a:buNone/>
              <a:defRPr/>
            </a:lvl1pPr>
          </a:lstStyle>
          <a:p>
            <a:endParaRPr/>
          </a:p>
        </p:txBody>
      </p:sp>
      <p:sp>
        <p:nvSpPr>
          <p:cNvPr id="85" name="Shape 8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86" name="Shape 86"/>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7" name="Shape 87"/>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88" name="Shape 88"/>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 name="Shape 89"/>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0" name="Shape 90"/>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311700" y="1474833"/>
            <a:ext cx="8520600" cy="26181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endParaRPr/>
          </a:p>
        </p:txBody>
      </p:sp>
      <p:sp>
        <p:nvSpPr>
          <p:cNvPr id="93" name="Shape 93"/>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lstStyle>
            <a:lvl1pPr marL="457200" lvl="0" indent="-368300" algn="ctr">
              <a:spcBef>
                <a:spcPts val="0"/>
              </a:spcBef>
              <a:spcAft>
                <a:spcPts val="0"/>
              </a:spcAft>
              <a:buSzPts val="2200"/>
              <a:buChar char="●"/>
              <a:defRPr/>
            </a:lvl1pPr>
            <a:lvl2pPr marL="914400" lvl="1" indent="-342900" algn="ctr">
              <a:spcBef>
                <a:spcPts val="600"/>
              </a:spcBef>
              <a:spcAft>
                <a:spcPts val="0"/>
              </a:spcAft>
              <a:buSzPts val="1800"/>
              <a:buChar char="○"/>
              <a:defRPr/>
            </a:lvl2pPr>
            <a:lvl3pPr marL="1371600" lvl="2" indent="-342900" algn="ctr">
              <a:spcBef>
                <a:spcPts val="600"/>
              </a:spcBef>
              <a:spcAft>
                <a:spcPts val="0"/>
              </a:spcAft>
              <a:buSzPts val="1800"/>
              <a:buChar char="■"/>
              <a:defRPr/>
            </a:lvl3pPr>
            <a:lvl4pPr marL="1828800" lvl="3" indent="-342900" algn="ctr">
              <a:spcBef>
                <a:spcPts val="600"/>
              </a:spcBef>
              <a:spcAft>
                <a:spcPts val="0"/>
              </a:spcAft>
              <a:buSzPts val="1800"/>
              <a:buChar char="●"/>
              <a:defRPr/>
            </a:lvl4pPr>
            <a:lvl5pPr marL="2286000" lvl="4" indent="-342900" algn="ctr">
              <a:spcBef>
                <a:spcPts val="600"/>
              </a:spcBef>
              <a:spcAft>
                <a:spcPts val="0"/>
              </a:spcAft>
              <a:buSzPts val="1800"/>
              <a:buChar char="○"/>
              <a:defRPr/>
            </a:lvl5pPr>
            <a:lvl6pPr marL="2743200" lvl="5" indent="-342900" algn="ctr">
              <a:spcBef>
                <a:spcPts val="600"/>
              </a:spcBef>
              <a:spcAft>
                <a:spcPts val="0"/>
              </a:spcAft>
              <a:buSzPts val="1800"/>
              <a:buChar char="■"/>
              <a:defRPr/>
            </a:lvl6pPr>
            <a:lvl7pPr marL="3200400" lvl="6" indent="-342900" algn="ctr">
              <a:spcBef>
                <a:spcPts val="600"/>
              </a:spcBef>
              <a:spcAft>
                <a:spcPts val="0"/>
              </a:spcAft>
              <a:buSzPts val="1800"/>
              <a:buChar char="●"/>
              <a:defRPr/>
            </a:lvl7pPr>
            <a:lvl8pPr marL="3657600" lvl="7" indent="-342900" algn="ctr">
              <a:spcBef>
                <a:spcPts val="600"/>
              </a:spcBef>
              <a:spcAft>
                <a:spcPts val="0"/>
              </a:spcAft>
              <a:buSzPts val="1800"/>
              <a:buChar char="○"/>
              <a:defRPr/>
            </a:lvl8pPr>
            <a:lvl9pPr marL="4114800" lvl="8" indent="-342900" algn="ctr">
              <a:spcBef>
                <a:spcPts val="600"/>
              </a:spcBef>
              <a:spcAft>
                <a:spcPts val="600"/>
              </a:spcAft>
              <a:buSzPts val="1800"/>
              <a:buChar char="■"/>
              <a:defRPr/>
            </a:lvl9pPr>
          </a:lstStyle>
          <a:p>
            <a:endParaRPr/>
          </a:p>
        </p:txBody>
      </p:sp>
      <p:sp>
        <p:nvSpPr>
          <p:cNvPr id="94" name="Shape 9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95" name="Shape 95"/>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6" name="Shape 96"/>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97" name="Shape 97"/>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8" name="Shape 98"/>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9" name="Shape 99"/>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Shape 10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t>‹#›</a:t>
            </a:fld>
            <a:endParaRPr/>
          </a:p>
        </p:txBody>
      </p:sp>
      <p:sp>
        <p:nvSpPr>
          <p:cNvPr id="102" name="Shape 10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 name="Shape 10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a:solidFill>
                  <a:srgbClr val="FFFFFF"/>
                </a:solidFill>
                <a:latin typeface="Georgia"/>
                <a:ea typeface="Georgia"/>
                <a:cs typeface="Georgia"/>
                <a:sym typeface="Georgia"/>
              </a:rPr>
              <a:t>Excellence and Service</a:t>
            </a:r>
            <a:endParaRPr>
              <a:solidFill>
                <a:srgbClr val="FFFFFF"/>
              </a:solidFill>
              <a:latin typeface="Georgia"/>
              <a:ea typeface="Georgia"/>
              <a:cs typeface="Georgia"/>
              <a:sym typeface="Georgia"/>
            </a:endParaRPr>
          </a:p>
        </p:txBody>
      </p:sp>
      <p:sp>
        <p:nvSpPr>
          <p:cNvPr id="104" name="Shape 10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 name="Shape 10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6" name="Shape 10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rgbClr val="FFFFFF"/>
                </a:solidFill>
                <a:latin typeface="Georgia"/>
                <a:ea typeface="Georgia"/>
                <a:cs typeface="Georgia"/>
                <a:sym typeface="Georgia"/>
              </a:rPr>
              <a:t>CHRIST</a:t>
            </a:r>
            <a:br>
              <a:rPr lang="en-GB">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lstStyle>
            <a:lvl1pPr lvl="0">
              <a:spcBef>
                <a:spcPts val="0"/>
              </a:spcBef>
              <a:spcAft>
                <a:spcPts val="0"/>
              </a:spcAft>
              <a:buSzPts val="2800"/>
              <a:buFont typeface="Archivo Narrow"/>
              <a:buNone/>
              <a:defRPr sz="2800" b="1">
                <a:latin typeface="Archivo Narrow"/>
                <a:ea typeface="Archivo Narrow"/>
                <a:cs typeface="Archivo Narrow"/>
                <a:sym typeface="Archivo Narrow"/>
              </a:defRPr>
            </a:lvl1pPr>
            <a:lvl2pPr lvl="1">
              <a:spcBef>
                <a:spcPts val="0"/>
              </a:spcBef>
              <a:spcAft>
                <a:spcPts val="0"/>
              </a:spcAft>
              <a:buSzPts val="2800"/>
              <a:buFont typeface="Archivo Narrow"/>
              <a:buNone/>
              <a:defRPr sz="2800" b="1">
                <a:latin typeface="Archivo Narrow"/>
                <a:ea typeface="Archivo Narrow"/>
                <a:cs typeface="Archivo Narrow"/>
                <a:sym typeface="Archivo Narrow"/>
              </a:defRPr>
            </a:lvl2pPr>
            <a:lvl3pPr lvl="2">
              <a:spcBef>
                <a:spcPts val="0"/>
              </a:spcBef>
              <a:spcAft>
                <a:spcPts val="0"/>
              </a:spcAft>
              <a:buSzPts val="2800"/>
              <a:buFont typeface="Archivo Narrow"/>
              <a:buNone/>
              <a:defRPr sz="2800" b="1">
                <a:latin typeface="Archivo Narrow"/>
                <a:ea typeface="Archivo Narrow"/>
                <a:cs typeface="Archivo Narrow"/>
                <a:sym typeface="Archivo Narrow"/>
              </a:defRPr>
            </a:lvl3pPr>
            <a:lvl4pPr lvl="3">
              <a:spcBef>
                <a:spcPts val="0"/>
              </a:spcBef>
              <a:spcAft>
                <a:spcPts val="0"/>
              </a:spcAft>
              <a:buSzPts val="2800"/>
              <a:buFont typeface="Archivo Narrow"/>
              <a:buNone/>
              <a:defRPr sz="2800" b="1">
                <a:latin typeface="Archivo Narrow"/>
                <a:ea typeface="Archivo Narrow"/>
                <a:cs typeface="Archivo Narrow"/>
                <a:sym typeface="Archivo Narrow"/>
              </a:defRPr>
            </a:lvl4pPr>
            <a:lvl5pPr lvl="4">
              <a:spcBef>
                <a:spcPts val="0"/>
              </a:spcBef>
              <a:spcAft>
                <a:spcPts val="0"/>
              </a:spcAft>
              <a:buSzPts val="2800"/>
              <a:buFont typeface="Archivo Narrow"/>
              <a:buNone/>
              <a:defRPr sz="2800" b="1">
                <a:latin typeface="Archivo Narrow"/>
                <a:ea typeface="Archivo Narrow"/>
                <a:cs typeface="Archivo Narrow"/>
                <a:sym typeface="Archivo Narrow"/>
              </a:defRPr>
            </a:lvl5pPr>
            <a:lvl6pPr lvl="5">
              <a:spcBef>
                <a:spcPts val="0"/>
              </a:spcBef>
              <a:spcAft>
                <a:spcPts val="0"/>
              </a:spcAft>
              <a:buSzPts val="2800"/>
              <a:buFont typeface="Archivo Narrow"/>
              <a:buNone/>
              <a:defRPr sz="2800" b="1">
                <a:latin typeface="Archivo Narrow"/>
                <a:ea typeface="Archivo Narrow"/>
                <a:cs typeface="Archivo Narrow"/>
                <a:sym typeface="Archivo Narrow"/>
              </a:defRPr>
            </a:lvl6pPr>
            <a:lvl7pPr lvl="6">
              <a:spcBef>
                <a:spcPts val="0"/>
              </a:spcBef>
              <a:spcAft>
                <a:spcPts val="0"/>
              </a:spcAft>
              <a:buSzPts val="2800"/>
              <a:buFont typeface="Archivo Narrow"/>
              <a:buNone/>
              <a:defRPr sz="2800" b="1">
                <a:latin typeface="Archivo Narrow"/>
                <a:ea typeface="Archivo Narrow"/>
                <a:cs typeface="Archivo Narrow"/>
                <a:sym typeface="Archivo Narrow"/>
              </a:defRPr>
            </a:lvl7pPr>
            <a:lvl8pPr lvl="7">
              <a:spcBef>
                <a:spcPts val="0"/>
              </a:spcBef>
              <a:spcAft>
                <a:spcPts val="0"/>
              </a:spcAft>
              <a:buSzPts val="2800"/>
              <a:buFont typeface="Archivo Narrow"/>
              <a:buNone/>
              <a:defRPr sz="2800" b="1">
                <a:latin typeface="Archivo Narrow"/>
                <a:ea typeface="Archivo Narrow"/>
                <a:cs typeface="Archivo Narrow"/>
                <a:sym typeface="Archivo Narrow"/>
              </a:defRPr>
            </a:lvl8pPr>
            <a:lvl9pPr lvl="8">
              <a:spcBef>
                <a:spcPts val="0"/>
              </a:spcBef>
              <a:spcAft>
                <a:spcPts val="0"/>
              </a:spcAft>
              <a:buSzPts val="2800"/>
              <a:buFont typeface="Archivo Narrow"/>
              <a:buNone/>
              <a:defRPr sz="2800" b="1">
                <a:latin typeface="Archivo Narrow"/>
                <a:ea typeface="Archivo Narrow"/>
                <a:cs typeface="Archivo Narrow"/>
                <a:sym typeface="Archivo Narrow"/>
              </a:defRPr>
            </a:lvl9pPr>
          </a:lstStyle>
          <a:p>
            <a:endParaRPr/>
          </a:p>
        </p:txBody>
      </p:sp>
      <p:sp>
        <p:nvSpPr>
          <p:cNvPr id="7" name="Shape 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lstStyle>
            <a:lvl1pPr marL="457200" lvl="0" indent="-368300">
              <a:lnSpc>
                <a:spcPct val="100000"/>
              </a:lnSpc>
              <a:spcBef>
                <a:spcPts val="0"/>
              </a:spcBef>
              <a:spcAft>
                <a:spcPts val="0"/>
              </a:spcAft>
              <a:buSzPts val="2200"/>
              <a:buFont typeface="Archivo Narrow"/>
              <a:buChar char="●"/>
              <a:defRPr sz="2200">
                <a:latin typeface="Archivo Narrow"/>
                <a:ea typeface="Archivo Narrow"/>
                <a:cs typeface="Archivo Narrow"/>
                <a:sym typeface="Archivo Narrow"/>
              </a:defRPr>
            </a:lvl1pPr>
            <a:lvl2pPr marL="914400" lvl="1"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2pPr>
            <a:lvl3pPr marL="1371600" lvl="2"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3pPr>
            <a:lvl4pPr marL="1828800" lvl="3"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4pPr>
            <a:lvl5pPr marL="2286000" lvl="4"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5pPr>
            <a:lvl6pPr marL="2743200" lvl="5"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6pPr>
            <a:lvl7pPr marL="3200400" lvl="6"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7pPr>
            <a:lvl8pPr marL="3657600" lvl="7"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8pPr>
            <a:lvl9pPr marL="4114800" lvl="8" indent="-342900">
              <a:lnSpc>
                <a:spcPct val="100000"/>
              </a:lnSpc>
              <a:spcBef>
                <a:spcPts val="600"/>
              </a:spcBef>
              <a:spcAft>
                <a:spcPts val="600"/>
              </a:spcAft>
              <a:buSzPts val="1800"/>
              <a:buFont typeface="Archivo Narrow"/>
              <a:buChar char="■"/>
              <a:defRPr sz="1800">
                <a:latin typeface="Archivo Narrow"/>
                <a:ea typeface="Archivo Narrow"/>
                <a:cs typeface="Archivo Narrow"/>
                <a:sym typeface="Archivo Narrow"/>
              </a:defRPr>
            </a:lvl9pPr>
          </a:lstStyle>
          <a:p>
            <a:endParaRPr/>
          </a:p>
        </p:txBody>
      </p:sp>
      <p:sp>
        <p:nvSpPr>
          <p:cNvPr id="8" name="Shape 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Shape 111"/>
          <p:cNvSpPr txBox="1">
            <a:spLocks noGrp="1"/>
          </p:cNvSpPr>
          <p:nvPr>
            <p:ph type="ctrTitle"/>
          </p:nvPr>
        </p:nvSpPr>
        <p:spPr>
          <a:xfrm>
            <a:off x="311700" y="1325720"/>
            <a:ext cx="8520600" cy="1714800"/>
          </a:xfrm>
          <a:prstGeom prst="rect">
            <a:avLst/>
          </a:prstGeom>
        </p:spPr>
        <p:txBody>
          <a:bodyPr spcFirstLastPara="1" wrap="square" lIns="91425" tIns="91425" rIns="91425" bIns="91425" anchor="b" anchorCtr="0">
            <a:noAutofit/>
          </a:bodyPr>
          <a:lstStyle/>
          <a:p>
            <a:pPr lvl="0"/>
            <a:r>
              <a:rPr lang="en-IN" dirty="0">
                <a:latin typeface="Times New Roman" panose="02020603050405020304" pitchFamily="18" charset="0"/>
                <a:cs typeface="Times New Roman" panose="02020603050405020304" pitchFamily="18" charset="0"/>
              </a:rPr>
              <a:t>AGRIMITRA : AI-Powered Smart Farming Assistant</a:t>
            </a:r>
            <a:endParaRPr b="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3746090" y="4815840"/>
            <a:ext cx="5540151" cy="1477328"/>
          </a:xfrm>
          <a:prstGeom prst="rect">
            <a:avLst/>
          </a:prstGeom>
          <a:noFill/>
        </p:spPr>
        <p:txBody>
          <a:bodyPr wrap="square" rtlCol="0">
            <a:spAutoFit/>
          </a:bodyPr>
          <a:lstStyle/>
          <a:p>
            <a:r>
              <a:rPr lang="en-GB" sz="1800" b="1" dirty="0">
                <a:latin typeface="Times New Roman" panose="02020603050405020304" pitchFamily="18" charset="0"/>
                <a:cs typeface="Times New Roman" panose="02020603050405020304" pitchFamily="18" charset="0"/>
              </a:rPr>
              <a:t>Student Details : </a:t>
            </a:r>
            <a:r>
              <a:rPr lang="en-IN" sz="1800" dirty="0" err="1">
                <a:latin typeface="Times New Roman" panose="02020603050405020304" pitchFamily="18" charset="0"/>
                <a:cs typeface="Times New Roman" panose="02020603050405020304" pitchFamily="18" charset="0"/>
              </a:rPr>
              <a:t>C.Niranjan</a:t>
            </a:r>
            <a:r>
              <a:rPr lang="en-IN" sz="1800" dirty="0">
                <a:latin typeface="Times New Roman" panose="02020603050405020304" pitchFamily="18" charset="0"/>
                <a:cs typeface="Times New Roman" panose="02020603050405020304" pitchFamily="18" charset="0"/>
              </a:rPr>
              <a:t> Reddy    (2362321),  	             Gowri Chandana P Nair(2362330)</a:t>
            </a:r>
            <a:endParaRPr lang="en-GB" sz="1800" b="1" dirty="0">
              <a:latin typeface="Times New Roman" panose="02020603050405020304" pitchFamily="18" charset="0"/>
              <a:cs typeface="Times New Roman" panose="02020603050405020304" pitchFamily="18" charset="0"/>
            </a:endParaRPr>
          </a:p>
          <a:p>
            <a:r>
              <a:rPr lang="en-GB" sz="1800" b="1" dirty="0">
                <a:latin typeface="Times New Roman" panose="02020603050405020304" pitchFamily="18" charset="0"/>
                <a:cs typeface="Times New Roman" panose="02020603050405020304" pitchFamily="18" charset="0"/>
              </a:rPr>
              <a:t>Guided By         : </a:t>
            </a:r>
            <a:r>
              <a:rPr lang="en-US" sz="1800" dirty="0" err="1">
                <a:latin typeface="Times New Roman" panose="02020603050405020304" pitchFamily="18" charset="0"/>
                <a:cs typeface="Times New Roman" panose="02020603050405020304" pitchFamily="18" charset="0"/>
              </a:rPr>
              <a:t>Prof.Vigneshwaran</a:t>
            </a:r>
            <a:r>
              <a:rPr lang="en-US" sz="1800" dirty="0">
                <a:latin typeface="Times New Roman" panose="02020603050405020304" pitchFamily="18" charset="0"/>
                <a:cs typeface="Times New Roman" panose="02020603050405020304" pitchFamily="18" charset="0"/>
              </a:rPr>
              <a:t> T</a:t>
            </a:r>
            <a:endParaRPr lang="en-IN" sz="1800" dirty="0">
              <a:latin typeface="Times New Roman" panose="02020603050405020304" pitchFamily="18" charset="0"/>
              <a:cs typeface="Times New Roman" panose="02020603050405020304" pitchFamily="18" charset="0"/>
            </a:endParaRPr>
          </a:p>
          <a:p>
            <a:endParaRPr lang="en-GB"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Shape 117"/>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Agenda</a:t>
            </a:r>
            <a:endParaRPr dirty="0">
              <a:latin typeface="Times New Roman" panose="02020603050405020304" pitchFamily="18" charset="0"/>
              <a:cs typeface="Times New Roman" panose="02020603050405020304" pitchFamily="18" charset="0"/>
            </a:endParaRPr>
          </a:p>
        </p:txBody>
      </p:sp>
      <p:sp>
        <p:nvSpPr>
          <p:cNvPr id="118" name="Shape 118"/>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p>
            <a:pPr lvl="0"/>
            <a:r>
              <a:rPr lang="en-US" sz="2400" dirty="0">
                <a:latin typeface="Times New Roman" panose="02020603050405020304" pitchFamily="18" charset="0"/>
                <a:cs typeface="Times New Roman" panose="02020603050405020304" pitchFamily="18" charset="0"/>
              </a:rPr>
              <a:t>Abstract </a:t>
            </a:r>
          </a:p>
          <a:p>
            <a:pPr lvl="0"/>
            <a:r>
              <a:rPr lang="en-US" sz="2400" dirty="0">
                <a:latin typeface="Times New Roman" panose="02020603050405020304" pitchFamily="18" charset="0"/>
                <a:cs typeface="Times New Roman" panose="02020603050405020304" pitchFamily="18" charset="0"/>
              </a:rPr>
              <a:t>Problem Statement </a:t>
            </a:r>
          </a:p>
          <a:p>
            <a:pPr lvl="0"/>
            <a:r>
              <a:rPr lang="en-US" sz="2400" dirty="0">
                <a:latin typeface="Times New Roman" panose="02020603050405020304" pitchFamily="18" charset="0"/>
                <a:cs typeface="Times New Roman" panose="02020603050405020304" pitchFamily="18" charset="0"/>
              </a:rPr>
              <a:t>Objectives </a:t>
            </a:r>
          </a:p>
          <a:p>
            <a:pPr lvl="0"/>
            <a:r>
              <a:rPr lang="en-US" sz="2400" dirty="0">
                <a:latin typeface="Times New Roman" panose="02020603050405020304" pitchFamily="18" charset="0"/>
                <a:cs typeface="Times New Roman" panose="02020603050405020304" pitchFamily="18" charset="0"/>
              </a:rPr>
              <a:t>Hardware &amp; Software Requirements </a:t>
            </a:r>
          </a:p>
          <a:p>
            <a:pPr lvl="0"/>
            <a:r>
              <a:rPr lang="en-US" sz="2400" dirty="0">
                <a:latin typeface="Times New Roman" panose="02020603050405020304" pitchFamily="18" charset="0"/>
                <a:cs typeface="Times New Roman" panose="02020603050405020304" pitchFamily="18" charset="0"/>
              </a:rPr>
              <a:t>AI &amp; ML Components </a:t>
            </a:r>
          </a:p>
          <a:p>
            <a:pPr lvl="0"/>
            <a:r>
              <a:rPr lang="en-US" sz="2400" dirty="0">
                <a:latin typeface="Times New Roman" panose="02020603050405020304" pitchFamily="18" charset="0"/>
                <a:cs typeface="Times New Roman" panose="02020603050405020304" pitchFamily="18" charset="0"/>
              </a:rPr>
              <a:t>Literature and Background Study</a:t>
            </a:r>
          </a:p>
          <a:p>
            <a:pPr lvl="0"/>
            <a:r>
              <a:rPr lang="en-US" sz="2400" dirty="0">
                <a:latin typeface="Times New Roman" panose="02020603050405020304" pitchFamily="18" charset="0"/>
                <a:cs typeface="Times New Roman" panose="02020603050405020304" pitchFamily="18" charset="0"/>
              </a:rPr>
              <a:t>System Architecture</a:t>
            </a:r>
          </a:p>
          <a:p>
            <a:pPr lvl="0"/>
            <a:r>
              <a:rPr lang="en-US" sz="2400" dirty="0">
                <a:latin typeface="Times New Roman" panose="02020603050405020304" pitchFamily="18" charset="0"/>
                <a:cs typeface="Times New Roman" panose="02020603050405020304" pitchFamily="18" charset="0"/>
              </a:rPr>
              <a:t>Modules</a:t>
            </a:r>
          </a:p>
          <a:p>
            <a:pPr lvl="0"/>
            <a:r>
              <a:rPr lang="en-US" sz="2400" dirty="0">
                <a:latin typeface="Times New Roman" panose="02020603050405020304" pitchFamily="18" charset="0"/>
                <a:cs typeface="Times New Roman" panose="02020603050405020304" pitchFamily="18" charset="0"/>
              </a:rPr>
              <a:t>Screenshots</a:t>
            </a:r>
          </a:p>
          <a:p>
            <a:pPr lvl="0"/>
            <a:r>
              <a:rPr lang="en-US" sz="2400" dirty="0">
                <a:latin typeface="Times New Roman" panose="02020603050405020304" pitchFamily="18" charset="0"/>
                <a:cs typeface="Times New Roman" panose="02020603050405020304" pitchFamily="18" charset="0"/>
              </a:rPr>
              <a:t>Project Timeline </a:t>
            </a:r>
          </a:p>
          <a:p>
            <a:pPr lvl="0"/>
            <a:r>
              <a:rPr lang="en-US" sz="2400" dirty="0">
                <a:latin typeface="Times New Roman" panose="02020603050405020304" pitchFamily="18" charset="0"/>
                <a:cs typeface="Times New Roman" panose="02020603050405020304" pitchFamily="18" charset="0"/>
              </a:rPr>
              <a:t>References</a:t>
            </a:r>
          </a:p>
          <a:p>
            <a:pPr marL="0" lvl="0" indent="0">
              <a:spcBef>
                <a:spcPts val="0"/>
              </a:spcBef>
              <a:spcAft>
                <a:spcPts val="600"/>
              </a:spcAf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Text Placeholder 2"/>
          <p:cNvSpPr>
            <a:spLocks noGrp="1"/>
          </p:cNvSpPr>
          <p:nvPr>
            <p:ph type="body" idx="1"/>
          </p:nvPr>
        </p:nvSpPr>
        <p:spPr>
          <a:xfrm>
            <a:off x="390358" y="1356867"/>
            <a:ext cx="8520600" cy="4758184"/>
          </a:xfrm>
        </p:spPr>
        <p:txBody>
          <a:bodyPr/>
          <a:lstStyle/>
          <a:p>
            <a:pPr marL="88900" indent="0" algn="just">
              <a:lnSpc>
                <a:spcPct val="150000"/>
              </a:lnSpc>
              <a:buNone/>
            </a:pPr>
            <a:r>
              <a:rPr lang="en-IN" sz="2000" dirty="0" err="1">
                <a:latin typeface="Times New Roman" panose="02020603050405020304" pitchFamily="18" charset="0"/>
                <a:cs typeface="Times New Roman" panose="02020603050405020304" pitchFamily="18" charset="0"/>
              </a:rPr>
              <a:t>AgriMitra</a:t>
            </a:r>
            <a:r>
              <a:rPr lang="en-IN" sz="2000" dirty="0">
                <a:latin typeface="Times New Roman" panose="02020603050405020304" pitchFamily="18" charset="0"/>
                <a:cs typeface="Times New Roman" panose="02020603050405020304" pitchFamily="18" charset="0"/>
              </a:rPr>
              <a:t> is an AI-powered smart farming assistant designed to provide personalized agricultural support to farmers. The platform integrates IoT-based environmental monitoring, weather data, intelligent irrigation recommendations, machine learning-based crop recommendation and rotation planning, crop price prediction, and an AI-powered agricultural assistant. Real-time farm context such as soil moisture, temperature, humidity, crop growth stage, weather conditions, and irrigation status is used to generate personalized recommendations. The platform also supports multilingual AI interaction through voice input and output, making agricultural guidance more accessible to farmers.</a:t>
            </a:r>
          </a:p>
        </p:txBody>
      </p:sp>
    </p:spTree>
    <p:extLst>
      <p:ext uri="{BB962C8B-B14F-4D97-AF65-F5344CB8AC3E}">
        <p14:creationId xmlns:p14="http://schemas.microsoft.com/office/powerpoint/2010/main" val="1122118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6" name="Shape 118"/>
          <p:cNvSpPr txBox="1">
            <a:spLocks noGrp="1"/>
          </p:cNvSpPr>
          <p:nvPr>
            <p:ph type="body" idx="1"/>
          </p:nvPr>
        </p:nvSpPr>
        <p:spPr>
          <a:xfrm>
            <a:off x="311700" y="1366699"/>
            <a:ext cx="8673804" cy="4970169"/>
          </a:xfrm>
          <a:prstGeom prst="rect">
            <a:avLst/>
          </a:prstGeom>
        </p:spPr>
        <p:txBody>
          <a:bodyPr spcFirstLastPara="1" wrap="square" lIns="91425" tIns="91425" rIns="91425" bIns="91425" anchor="t" anchorCtr="0">
            <a:noAutofit/>
          </a:bodyPr>
          <a:lstStyle/>
          <a:p>
            <a:pPr algn="just"/>
            <a:r>
              <a:rPr lang="en-IN" sz="2000" dirty="0"/>
              <a:t>Farmers often lack intelligent tools to plan suitable crop rotations and farming activities based on soil conditions, previous crops, and seasonal factors.</a:t>
            </a:r>
          </a:p>
          <a:p>
            <a:pPr marL="88900" indent="0" algn="just">
              <a:buNone/>
            </a:pPr>
            <a:endParaRPr lang="en-IN" sz="2000" dirty="0"/>
          </a:p>
          <a:p>
            <a:pPr algn="just"/>
            <a:r>
              <a:rPr lang="en-IN" sz="2000" dirty="0"/>
              <a:t>Farmers face difficulty in identifying crops from images and obtaining reliable estimates of their current and future market prices.</a:t>
            </a:r>
          </a:p>
          <a:p>
            <a:pPr marL="88900" indent="0" algn="just">
              <a:buNone/>
            </a:pPr>
            <a:endParaRPr lang="en-IN" sz="2000" dirty="0"/>
          </a:p>
          <a:p>
            <a:pPr algn="just"/>
            <a:r>
              <a:rPr lang="en-IN" sz="2000" dirty="0"/>
              <a:t>Farmers need an accessible system for real-time farm monitoring and personalized agricultural guidance through simple voice-based interaction.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3932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9778A-AAB6-A41B-B817-92935BB1FB5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endParaRPr lang="en-IN" dirty="0"/>
          </a:p>
        </p:txBody>
      </p:sp>
      <p:sp>
        <p:nvSpPr>
          <p:cNvPr id="3" name="Text Placeholder 2">
            <a:extLst>
              <a:ext uri="{FF2B5EF4-FFF2-40B4-BE49-F238E27FC236}">
                <a16:creationId xmlns:a16="http://schemas.microsoft.com/office/drawing/2014/main" id="{B06E7409-3ED7-1FEE-2DA2-14CDCD44F95F}"/>
              </a:ext>
            </a:extLst>
          </p:cNvPr>
          <p:cNvSpPr>
            <a:spLocks noGrp="1"/>
          </p:cNvSpPr>
          <p:nvPr>
            <p:ph type="body" idx="1"/>
          </p:nvPr>
        </p:nvSpPr>
        <p:spPr>
          <a:xfrm>
            <a:off x="311700" y="1356867"/>
            <a:ext cx="8520600" cy="4555200"/>
          </a:xfrm>
        </p:spPr>
        <p:txBody>
          <a:bodyPr/>
          <a:lstStyle/>
          <a:p>
            <a:pPr algn="just"/>
            <a:r>
              <a:rPr lang="en-IN" sz="2000" dirty="0">
                <a:latin typeface="Times New Roman" panose="02020603050405020304" pitchFamily="18" charset="0"/>
                <a:cs typeface="Times New Roman" panose="02020603050405020304" pitchFamily="18" charset="0"/>
              </a:rPr>
              <a:t>To develop a machine learning and rule-based crop rotation and scheduling system that recommends suitable crops and farming activities based on soil conditions, previous crop history, crop suitability, and seasonal factors. (phase1)</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To develop an image-based crop price prediction system that uses MobileNetV2 for crop identification and machine learning-based analysis of historical market data to estimate crop prices and future price trends. (phase 1)</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To develop an IoT-based farm monitoring prototype integrated with a multilingual AI voice assistant to provide real-time farm information and personalized agricultural guidance to users. (phase 2)</a:t>
            </a:r>
          </a:p>
          <a:p>
            <a:pPr marL="8890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8345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12298-E829-093B-1BB6-D69FF04DF398}"/>
              </a:ext>
            </a:extLst>
          </p:cNvPr>
          <p:cNvSpPr>
            <a:spLocks noGrp="1"/>
          </p:cNvSpPr>
          <p:nvPr>
            <p:ph type="title"/>
          </p:nvPr>
        </p:nvSpPr>
        <p:spPr/>
        <p:txBody>
          <a:bodyPr/>
          <a:lstStyle/>
          <a:p>
            <a:r>
              <a:rPr lang="en-US" dirty="0"/>
              <a:t>System Architecture</a:t>
            </a:r>
            <a:endParaRPr lang="en-IN" dirty="0"/>
          </a:p>
        </p:txBody>
      </p:sp>
      <p:sp>
        <p:nvSpPr>
          <p:cNvPr id="3" name="Text Placeholder 2">
            <a:extLst>
              <a:ext uri="{FF2B5EF4-FFF2-40B4-BE49-F238E27FC236}">
                <a16:creationId xmlns:a16="http://schemas.microsoft.com/office/drawing/2014/main" id="{AABB568C-B143-3AAF-B537-50FCEC60B68E}"/>
              </a:ext>
            </a:extLst>
          </p:cNvPr>
          <p:cNvSpPr>
            <a:spLocks noGrp="1"/>
          </p:cNvSpPr>
          <p:nvPr>
            <p:ph type="body" idx="1"/>
          </p:nvPr>
        </p:nvSpPr>
        <p:spPr/>
        <p:txBody>
          <a:bodyPr/>
          <a:lstStyle/>
          <a:p>
            <a:endParaRPr lang="en-IN" dirty="0"/>
          </a:p>
        </p:txBody>
      </p:sp>
      <p:pic>
        <p:nvPicPr>
          <p:cNvPr id="6" name="Picture 5">
            <a:extLst>
              <a:ext uri="{FF2B5EF4-FFF2-40B4-BE49-F238E27FC236}">
                <a16:creationId xmlns:a16="http://schemas.microsoft.com/office/drawing/2014/main" id="{B6D722D4-E194-EA7D-D465-47B967A2314D}"/>
              </a:ext>
            </a:extLst>
          </p:cNvPr>
          <p:cNvPicPr>
            <a:picLocks noChangeAspect="1"/>
          </p:cNvPicPr>
          <p:nvPr/>
        </p:nvPicPr>
        <p:blipFill>
          <a:blip r:embed="rId2"/>
          <a:stretch>
            <a:fillRect/>
          </a:stretch>
        </p:blipFill>
        <p:spPr>
          <a:xfrm>
            <a:off x="452284" y="1348504"/>
            <a:ext cx="7374194" cy="4916129"/>
          </a:xfrm>
          <a:prstGeom prst="rect">
            <a:avLst/>
          </a:prstGeom>
        </p:spPr>
      </p:pic>
    </p:spTree>
    <p:extLst>
      <p:ext uri="{BB962C8B-B14F-4D97-AF65-F5344CB8AC3E}">
        <p14:creationId xmlns:p14="http://schemas.microsoft.com/office/powerpoint/2010/main" val="1849862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4374B-FDAD-1E54-A80C-12E6208D58B1}"/>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Hardware and Software Requirements</a:t>
            </a:r>
            <a:endParaRPr lang="en-IN" dirty="0"/>
          </a:p>
        </p:txBody>
      </p:sp>
      <p:sp>
        <p:nvSpPr>
          <p:cNvPr id="3" name="Text Placeholder 2">
            <a:extLst>
              <a:ext uri="{FF2B5EF4-FFF2-40B4-BE49-F238E27FC236}">
                <a16:creationId xmlns:a16="http://schemas.microsoft.com/office/drawing/2014/main" id="{784D173E-7811-46E8-3AC0-D95F1E07507F}"/>
              </a:ext>
            </a:extLst>
          </p:cNvPr>
          <p:cNvSpPr>
            <a:spLocks noGrp="1"/>
          </p:cNvSpPr>
          <p:nvPr>
            <p:ph type="body" idx="1"/>
          </p:nvPr>
        </p:nvSpPr>
        <p:spPr/>
        <p:txBody>
          <a:bodyPr/>
          <a:lstStyle/>
          <a:p>
            <a:endParaRPr lang="en-IN" dirty="0"/>
          </a:p>
        </p:txBody>
      </p:sp>
      <p:graphicFrame>
        <p:nvGraphicFramePr>
          <p:cNvPr id="5" name="Table 4">
            <a:extLst>
              <a:ext uri="{FF2B5EF4-FFF2-40B4-BE49-F238E27FC236}">
                <a16:creationId xmlns:a16="http://schemas.microsoft.com/office/drawing/2014/main" id="{ABD67AB0-A0D5-2207-9486-134776B15F94}"/>
              </a:ext>
            </a:extLst>
          </p:cNvPr>
          <p:cNvGraphicFramePr>
            <a:graphicFrameLocks noGrp="1"/>
          </p:cNvGraphicFramePr>
          <p:nvPr>
            <p:extLst>
              <p:ext uri="{D42A27DB-BD31-4B8C-83A1-F6EECF244321}">
                <p14:modId xmlns:p14="http://schemas.microsoft.com/office/powerpoint/2010/main" val="2782082966"/>
              </p:ext>
            </p:extLst>
          </p:nvPr>
        </p:nvGraphicFramePr>
        <p:xfrm>
          <a:off x="311700" y="1868128"/>
          <a:ext cx="8520600" cy="3628104"/>
        </p:xfrm>
        <a:graphic>
          <a:graphicData uri="http://schemas.openxmlformats.org/drawingml/2006/table">
            <a:tbl>
              <a:tblPr>
                <a:tableStyleId>{5C22544A-7EE6-4342-B048-85BDC9FD1C3A}</a:tableStyleId>
              </a:tblPr>
              <a:tblGrid>
                <a:gridCol w="4260300">
                  <a:extLst>
                    <a:ext uri="{9D8B030D-6E8A-4147-A177-3AD203B41FA5}">
                      <a16:colId xmlns:a16="http://schemas.microsoft.com/office/drawing/2014/main" val="248534896"/>
                    </a:ext>
                  </a:extLst>
                </a:gridCol>
                <a:gridCol w="4260300">
                  <a:extLst>
                    <a:ext uri="{9D8B030D-6E8A-4147-A177-3AD203B41FA5}">
                      <a16:colId xmlns:a16="http://schemas.microsoft.com/office/drawing/2014/main" val="3418285528"/>
                    </a:ext>
                  </a:extLst>
                </a:gridCol>
              </a:tblGrid>
              <a:tr h="453513">
                <a:tc>
                  <a:txBody>
                    <a:bodyPr/>
                    <a:lstStyle/>
                    <a:p>
                      <a:pPr>
                        <a:buNone/>
                      </a:pPr>
                      <a:r>
                        <a:rPr lang="en-IN" sz="2000" b="1" dirty="0">
                          <a:latin typeface="Times New Roman" panose="02020603050405020304" pitchFamily="18" charset="0"/>
                          <a:cs typeface="Times New Roman" panose="02020603050405020304" pitchFamily="18"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1" dirty="0">
                          <a:latin typeface="Times New Roman" panose="02020603050405020304" pitchFamily="18" charset="0"/>
                          <a:cs typeface="Times New Roman" panose="02020603050405020304" pitchFamily="18"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5367309"/>
                  </a:ext>
                </a:extLst>
              </a:tr>
              <a:tr h="453513">
                <a:tc>
                  <a:txBody>
                    <a:bodyPr/>
                    <a:lstStyle/>
                    <a:p>
                      <a:pPr>
                        <a:buNone/>
                      </a:pPr>
                      <a:r>
                        <a:rPr lang="en-IN" sz="2000">
                          <a:latin typeface="Times New Roman" panose="02020603050405020304" pitchFamily="18" charset="0"/>
                          <a:cs typeface="Times New Roman" panose="02020603050405020304" pitchFamily="18" charset="0"/>
                        </a:rPr>
                        <a:t>ESP32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IoT sensor connectivity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7973456"/>
                  </a:ext>
                </a:extLst>
              </a:tr>
              <a:tr h="453513">
                <a:tc>
                  <a:txBody>
                    <a:bodyPr/>
                    <a:lstStyle/>
                    <a:p>
                      <a:pPr>
                        <a:buNone/>
                      </a:pPr>
                      <a:r>
                        <a:rPr lang="en-IN" sz="2000">
                          <a:latin typeface="Times New Roman" panose="02020603050405020304" pitchFamily="18" charset="0"/>
                          <a:cs typeface="Times New Roman" panose="02020603050405020304" pitchFamily="18" charset="0"/>
                        </a:rPr>
                        <a:t>Capacitive Soil Moisture Sensor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Soil moisture monitoring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95600354"/>
                  </a:ext>
                </a:extLst>
              </a:tr>
              <a:tr h="453513">
                <a:tc>
                  <a:txBody>
                    <a:bodyPr/>
                    <a:lstStyle/>
                    <a:p>
                      <a:pPr>
                        <a:buNone/>
                      </a:pPr>
                      <a:r>
                        <a:rPr lang="en-IN" sz="2000" dirty="0">
                          <a:latin typeface="Times New Roman" panose="02020603050405020304" pitchFamily="18" charset="0"/>
                          <a:cs typeface="Times New Roman" panose="02020603050405020304" pitchFamily="18" charset="0"/>
                        </a:rPr>
                        <a:t>DHT22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Temperature &amp; humidity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3423823"/>
                  </a:ext>
                </a:extLst>
              </a:tr>
              <a:tr h="453513">
                <a:tc>
                  <a:txBody>
                    <a:bodyPr/>
                    <a:lstStyle/>
                    <a:p>
                      <a:pPr>
                        <a:buNone/>
                      </a:pPr>
                      <a:r>
                        <a:rPr lang="en-IN" sz="2000" dirty="0">
                          <a:latin typeface="Times New Roman" panose="02020603050405020304" pitchFamily="18" charset="0"/>
                          <a:cs typeface="Times New Roman" panose="02020603050405020304" pitchFamily="18" charset="0"/>
                        </a:rPr>
                        <a:t>Relay Module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Planned pump switching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4050697"/>
                  </a:ext>
                </a:extLst>
              </a:tr>
              <a:tr h="453513">
                <a:tc>
                  <a:txBody>
                    <a:bodyPr/>
                    <a:lstStyle/>
                    <a:p>
                      <a:pPr>
                        <a:buNone/>
                      </a:pPr>
                      <a:r>
                        <a:rPr lang="en-IN" sz="2000">
                          <a:latin typeface="Times New Roman" panose="02020603050405020304" pitchFamily="18" charset="0"/>
                          <a:cs typeface="Times New Roman" panose="02020603050405020304" pitchFamily="18" charset="0"/>
                        </a:rPr>
                        <a:t>12V DC Pump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Proposed irrigation actuator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30255273"/>
                  </a:ext>
                </a:extLst>
              </a:tr>
              <a:tr h="453513">
                <a:tc>
                  <a:txBody>
                    <a:bodyPr/>
                    <a:lstStyle/>
                    <a:p>
                      <a:pPr>
                        <a:buNone/>
                      </a:pPr>
                      <a:r>
                        <a:rPr lang="en-IN" sz="2000">
                          <a:latin typeface="Times New Roman" panose="02020603050405020304" pitchFamily="18" charset="0"/>
                          <a:cs typeface="Times New Roman" panose="02020603050405020304" pitchFamily="18" charset="0"/>
                        </a:rPr>
                        <a:t>Water Level Sensor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latin typeface="Times New Roman" panose="02020603050405020304" pitchFamily="18" charset="0"/>
                          <a:cs typeface="Times New Roman" panose="02020603050405020304" pitchFamily="18" charset="0"/>
                        </a:rPr>
                        <a:t>Planned dry-run protection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3496019"/>
                  </a:ext>
                </a:extLst>
              </a:tr>
              <a:tr h="453513">
                <a:tc>
                  <a:txBody>
                    <a:bodyPr/>
                    <a:lstStyle/>
                    <a:p>
                      <a:pPr>
                        <a:buNone/>
                      </a:pPr>
                      <a:r>
                        <a:rPr lang="en-IN" sz="2000">
                          <a:latin typeface="Times New Roman" panose="02020603050405020304" pitchFamily="18" charset="0"/>
                          <a:cs typeface="Times New Roman" panose="02020603050405020304" pitchFamily="18" charset="0"/>
                        </a:rPr>
                        <a:t>Power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latin typeface="Times New Roman" panose="02020603050405020304" pitchFamily="18" charset="0"/>
                          <a:cs typeface="Times New Roman" panose="02020603050405020304" pitchFamily="18" charset="0"/>
                        </a:rPr>
                        <a:t>Development/testing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7839399"/>
                  </a:ext>
                </a:extLst>
              </a:tr>
            </a:tbl>
          </a:graphicData>
        </a:graphic>
      </p:graphicFrame>
    </p:spTree>
    <p:extLst>
      <p:ext uri="{BB962C8B-B14F-4D97-AF65-F5344CB8AC3E}">
        <p14:creationId xmlns:p14="http://schemas.microsoft.com/office/powerpoint/2010/main" val="827787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94968-D7FF-CD2F-7F8F-42ED0F3BA8DE}"/>
              </a:ext>
            </a:extLst>
          </p:cNvPr>
          <p:cNvSpPr>
            <a:spLocks noGrp="1"/>
          </p:cNvSpPr>
          <p:nvPr>
            <p:ph type="title"/>
          </p:nvPr>
        </p:nvSpPr>
        <p:spPr/>
        <p:txBody>
          <a:bodyPr/>
          <a:lstStyle/>
          <a:p>
            <a:r>
              <a:rPr lang="en-US" dirty="0"/>
              <a:t>Software Stack</a:t>
            </a:r>
            <a:endParaRPr lang="en-IN" dirty="0"/>
          </a:p>
        </p:txBody>
      </p:sp>
      <p:sp>
        <p:nvSpPr>
          <p:cNvPr id="3" name="Text Placeholder 2">
            <a:extLst>
              <a:ext uri="{FF2B5EF4-FFF2-40B4-BE49-F238E27FC236}">
                <a16:creationId xmlns:a16="http://schemas.microsoft.com/office/drawing/2014/main" id="{81C8790F-98DB-53C4-8BC3-EC50330675E4}"/>
              </a:ext>
            </a:extLst>
          </p:cNvPr>
          <p:cNvSpPr>
            <a:spLocks noGrp="1"/>
          </p:cNvSpPr>
          <p:nvPr>
            <p:ph type="body" idx="1"/>
          </p:nvPr>
        </p:nvSpPr>
        <p:spPr/>
        <p:txBody>
          <a:bodyPr/>
          <a:lstStyle/>
          <a:p>
            <a:endParaRPr lang="en-IN" dirty="0"/>
          </a:p>
        </p:txBody>
      </p:sp>
      <p:graphicFrame>
        <p:nvGraphicFramePr>
          <p:cNvPr id="4" name="Table 3">
            <a:extLst>
              <a:ext uri="{FF2B5EF4-FFF2-40B4-BE49-F238E27FC236}">
                <a16:creationId xmlns:a16="http://schemas.microsoft.com/office/drawing/2014/main" id="{D1F049CF-5B40-8E5E-6DBB-EC65A9AB16E6}"/>
              </a:ext>
            </a:extLst>
          </p:cNvPr>
          <p:cNvGraphicFramePr>
            <a:graphicFrameLocks noGrp="1"/>
          </p:cNvGraphicFramePr>
          <p:nvPr>
            <p:extLst>
              <p:ext uri="{D42A27DB-BD31-4B8C-83A1-F6EECF244321}">
                <p14:modId xmlns:p14="http://schemas.microsoft.com/office/powerpoint/2010/main" val="2566100346"/>
              </p:ext>
            </p:extLst>
          </p:nvPr>
        </p:nvGraphicFramePr>
        <p:xfrm>
          <a:off x="311700" y="1126146"/>
          <a:ext cx="8520600" cy="5151120"/>
        </p:xfrm>
        <a:graphic>
          <a:graphicData uri="http://schemas.openxmlformats.org/drawingml/2006/table">
            <a:tbl>
              <a:tblPr>
                <a:tableStyleId>{5C22544A-7EE6-4342-B048-85BDC9FD1C3A}</a:tableStyleId>
              </a:tblPr>
              <a:tblGrid>
                <a:gridCol w="4260300">
                  <a:extLst>
                    <a:ext uri="{9D8B030D-6E8A-4147-A177-3AD203B41FA5}">
                      <a16:colId xmlns:a16="http://schemas.microsoft.com/office/drawing/2014/main" val="745986815"/>
                    </a:ext>
                  </a:extLst>
                </a:gridCol>
                <a:gridCol w="4260300">
                  <a:extLst>
                    <a:ext uri="{9D8B030D-6E8A-4147-A177-3AD203B41FA5}">
                      <a16:colId xmlns:a16="http://schemas.microsoft.com/office/drawing/2014/main" val="3104407086"/>
                    </a:ext>
                  </a:extLst>
                </a:gridCol>
              </a:tblGrid>
              <a:tr h="350400">
                <a:tc>
                  <a:txBody>
                    <a:bodyPr/>
                    <a:lstStyle/>
                    <a:p>
                      <a:pPr>
                        <a:buNone/>
                      </a:pPr>
                      <a:r>
                        <a:rPr lang="en-IN" sz="2000" b="1" dirty="0">
                          <a:latin typeface="Times New Roman" panose="02020603050405020304" pitchFamily="18" charset="0"/>
                          <a:cs typeface="Times New Roman" panose="02020603050405020304" pitchFamily="18" charset="0"/>
                        </a:rPr>
                        <a:t>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b="1" dirty="0">
                          <a:latin typeface="Times New Roman" panose="02020603050405020304" pitchFamily="18" charset="0"/>
                          <a:cs typeface="Times New Roman" panose="02020603050405020304" pitchFamily="18" charset="0"/>
                        </a:rPr>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4549016"/>
                  </a:ext>
                </a:extLst>
              </a:tr>
              <a:tr h="350400">
                <a:tc>
                  <a:txBody>
                    <a:bodyPr/>
                    <a:lstStyle/>
                    <a:p>
                      <a:pPr>
                        <a:buNone/>
                      </a:pPr>
                      <a:r>
                        <a:rPr lang="en-IN" sz="2000">
                          <a:latin typeface="Times New Roman" panose="02020603050405020304" pitchFamily="18" charset="0"/>
                          <a:cs typeface="Times New Roman" panose="02020603050405020304" pitchFamily="18" charset="0"/>
                        </a:rPr>
                        <a:t>Frontend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Flutter / Dart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66159711"/>
                  </a:ext>
                </a:extLst>
              </a:tr>
              <a:tr h="350400">
                <a:tc>
                  <a:txBody>
                    <a:bodyPr/>
                    <a:lstStyle/>
                    <a:p>
                      <a:pPr>
                        <a:buNone/>
                      </a:pPr>
                      <a:r>
                        <a:rPr lang="en-IN" sz="2000" dirty="0">
                          <a:latin typeface="Times New Roman" panose="02020603050405020304" pitchFamily="18" charset="0"/>
                          <a:cs typeface="Times New Roman" panose="02020603050405020304" pitchFamily="18" charset="0"/>
                        </a:rPr>
                        <a:t>Backend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Node.js / Express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4472978"/>
                  </a:ext>
                </a:extLst>
              </a:tr>
              <a:tr h="350400">
                <a:tc>
                  <a:txBody>
                    <a:bodyPr/>
                    <a:lstStyle/>
                    <a:p>
                      <a:pPr>
                        <a:buNone/>
                      </a:pPr>
                      <a:r>
                        <a:rPr lang="en-IN" sz="2000">
                          <a:latin typeface="Times New Roman" panose="02020603050405020304" pitchFamily="18" charset="0"/>
                          <a:cs typeface="Times New Roman" panose="02020603050405020304" pitchFamily="18" charset="0"/>
                        </a:rPr>
                        <a:t>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a:latin typeface="Times New Roman" panose="02020603050405020304" pitchFamily="18" charset="0"/>
                          <a:cs typeface="Times New Roman" panose="02020603050405020304" pitchFamily="18" charset="0"/>
                        </a:rPr>
                        <a:t>MongoDB Atlas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4384092"/>
                  </a:ext>
                </a:extLst>
              </a:tr>
              <a:tr h="350400">
                <a:tc>
                  <a:txBody>
                    <a:bodyPr/>
                    <a:lstStyle/>
                    <a:p>
                      <a:pPr>
                        <a:buNone/>
                      </a:pPr>
                      <a:r>
                        <a:rPr lang="en-IN" sz="2000">
                          <a:latin typeface="Times New Roman" panose="02020603050405020304" pitchFamily="18" charset="0"/>
                          <a:cs typeface="Times New Roman" panose="02020603050405020304" pitchFamily="18" charset="0"/>
                        </a:rPr>
                        <a:t>IoT Communication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MQTT / HiveMQ 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3785235"/>
                  </a:ext>
                </a:extLst>
              </a:tr>
              <a:tr h="350400">
                <a:tc>
                  <a:txBody>
                    <a:bodyPr/>
                    <a:lstStyle/>
                    <a:p>
                      <a:pPr>
                        <a:buNone/>
                      </a:pPr>
                      <a:r>
                        <a:rPr lang="en-IN" sz="2000">
                          <a:latin typeface="Times New Roman" panose="02020603050405020304" pitchFamily="18" charset="0"/>
                          <a:cs typeface="Times New Roman" panose="02020603050405020304" pitchFamily="18" charset="0"/>
                        </a:rPr>
                        <a:t>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Google Gemini 2.5 Flash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36327248"/>
                  </a:ext>
                </a:extLst>
              </a:tr>
              <a:tr h="350400">
                <a:tc>
                  <a:txBody>
                    <a:bodyPr/>
                    <a:lstStyle/>
                    <a:p>
                      <a:pPr>
                        <a:buNone/>
                      </a:pPr>
                      <a:r>
                        <a:rPr lang="en-IN" sz="2000">
                          <a:latin typeface="Times New Roman" panose="02020603050405020304" pitchFamily="18" charset="0"/>
                          <a:cs typeface="Times New Roman" panose="02020603050405020304" pitchFamily="18" charset="0"/>
                        </a:rPr>
                        <a:t>Crop 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Python / Flask / 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76920577"/>
                  </a:ext>
                </a:extLst>
              </a:tr>
              <a:tr h="350400">
                <a:tc>
                  <a:txBody>
                    <a:bodyPr/>
                    <a:lstStyle/>
                    <a:p>
                      <a:pPr>
                        <a:buNone/>
                      </a:pPr>
                      <a:r>
                        <a:rPr lang="en-IN" sz="2000">
                          <a:latin typeface="Times New Roman" panose="02020603050405020304" pitchFamily="18" charset="0"/>
                          <a:cs typeface="Times New Roman" panose="02020603050405020304" pitchFamily="18" charset="0"/>
                        </a:rPr>
                        <a:t>Price 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Python / Flask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24186566"/>
                  </a:ext>
                </a:extLst>
              </a:tr>
              <a:tr h="350400">
                <a:tc>
                  <a:txBody>
                    <a:bodyPr/>
                    <a:lstStyle/>
                    <a:p>
                      <a:pPr>
                        <a:buNone/>
                      </a:pPr>
                      <a:r>
                        <a:rPr lang="en-IN" sz="2000">
                          <a:latin typeface="Times New Roman" panose="02020603050405020304" pitchFamily="18" charset="0"/>
                          <a:cs typeface="Times New Roman" panose="02020603050405020304" pitchFamily="18" charset="0"/>
                        </a:rPr>
                        <a:t>Image Recognition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MobileNetV2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0549505"/>
                  </a:ext>
                </a:extLst>
              </a:tr>
              <a:tr h="350400">
                <a:tc>
                  <a:txBody>
                    <a:bodyPr/>
                    <a:lstStyle/>
                    <a:p>
                      <a:pPr>
                        <a:buNone/>
                      </a:pPr>
                      <a:r>
                        <a:rPr lang="en-IN" sz="2000">
                          <a:latin typeface="Times New Roman" panose="02020603050405020304" pitchFamily="18" charset="0"/>
                          <a:cs typeface="Times New Roman" panose="02020603050405020304" pitchFamily="18" charset="0"/>
                        </a:rPr>
                        <a:t>Weather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OpenWeatherMap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4496564"/>
                  </a:ext>
                </a:extLst>
              </a:tr>
              <a:tr h="350400">
                <a:tc>
                  <a:txBody>
                    <a:bodyPr/>
                    <a:lstStyle/>
                    <a:p>
                      <a:pPr>
                        <a:buNone/>
                      </a:pPr>
                      <a:r>
                        <a:rPr lang="en-IN" sz="2000">
                          <a:latin typeface="Times New Roman" panose="02020603050405020304" pitchFamily="18" charset="0"/>
                          <a:cs typeface="Times New Roman" panose="02020603050405020304" pitchFamily="18" charset="0"/>
                        </a:rPr>
                        <a:t>Market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AGMARKNET / data.gov.in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7972274"/>
                  </a:ext>
                </a:extLst>
              </a:tr>
              <a:tr h="350400">
                <a:tc>
                  <a:txBody>
                    <a:bodyPr/>
                    <a:lstStyle/>
                    <a:p>
                      <a:pPr>
                        <a:buNone/>
                      </a:pPr>
                      <a:r>
                        <a:rPr lang="en-IN" sz="2000">
                          <a:latin typeface="Times New Roman" panose="02020603050405020304" pitchFamily="18" charset="0"/>
                          <a:cs typeface="Times New Roman" panose="02020603050405020304" pitchFamily="18" charset="0"/>
                        </a:rPr>
                        <a:t>Authentication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a:latin typeface="Times New Roman" panose="02020603050405020304" pitchFamily="18" charset="0"/>
                          <a:cs typeface="Times New Roman" panose="02020603050405020304" pitchFamily="18" charset="0"/>
                        </a:rPr>
                        <a:t>JWT + bcrypt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0229445"/>
                  </a:ext>
                </a:extLst>
              </a:tr>
              <a:tr h="350400">
                <a:tc>
                  <a:txBody>
                    <a:bodyPr/>
                    <a:lstStyle/>
                    <a:p>
                      <a:pPr>
                        <a:buNone/>
                      </a:pPr>
                      <a:r>
                        <a:rPr lang="en-IN" sz="2000">
                          <a:latin typeface="Times New Roman" panose="02020603050405020304" pitchFamily="18" charset="0"/>
                          <a:cs typeface="Times New Roman" panose="02020603050405020304" pitchFamily="18" charset="0"/>
                        </a:rPr>
                        <a:t>Voice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2000" dirty="0" err="1">
                          <a:latin typeface="Times New Roman" panose="02020603050405020304" pitchFamily="18" charset="0"/>
                          <a:cs typeface="Times New Roman" panose="02020603050405020304" pitchFamily="18" charset="0"/>
                        </a:rPr>
                        <a:t>speech_to_text</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flutter_tts</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0859330"/>
                  </a:ext>
                </a:extLst>
              </a:tr>
            </a:tbl>
          </a:graphicData>
        </a:graphic>
      </p:graphicFrame>
    </p:spTree>
    <p:extLst>
      <p:ext uri="{BB962C8B-B14F-4D97-AF65-F5344CB8AC3E}">
        <p14:creationId xmlns:p14="http://schemas.microsoft.com/office/powerpoint/2010/main" val="2696005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B069E-1CE6-8FC8-A246-3970C3D9BF9C}"/>
              </a:ext>
            </a:extLst>
          </p:cNvPr>
          <p:cNvSpPr>
            <a:spLocks noGrp="1"/>
          </p:cNvSpPr>
          <p:nvPr>
            <p:ph type="title"/>
          </p:nvPr>
        </p:nvSpPr>
        <p:spPr/>
        <p:txBody>
          <a:bodyPr/>
          <a:lstStyle/>
          <a:p>
            <a:r>
              <a:rPr lang="en-US" dirty="0"/>
              <a:t>AI &amp; ML Components</a:t>
            </a:r>
            <a:endParaRPr lang="en-IN" dirty="0"/>
          </a:p>
        </p:txBody>
      </p:sp>
      <p:sp>
        <p:nvSpPr>
          <p:cNvPr id="3" name="Text Placeholder 2">
            <a:extLst>
              <a:ext uri="{FF2B5EF4-FFF2-40B4-BE49-F238E27FC236}">
                <a16:creationId xmlns:a16="http://schemas.microsoft.com/office/drawing/2014/main" id="{D2EE39A3-BBB2-61BC-AD0D-9CBE510B4F2D}"/>
              </a:ext>
            </a:extLst>
          </p:cNvPr>
          <p:cNvSpPr>
            <a:spLocks noGrp="1"/>
          </p:cNvSpPr>
          <p:nvPr>
            <p:ph type="body" idx="1"/>
          </p:nvPr>
        </p:nvSpPr>
        <p:spPr>
          <a:xfrm>
            <a:off x="310600" y="1382197"/>
            <a:ext cx="8520600" cy="4555200"/>
          </a:xfrm>
        </p:spPr>
        <p:txBody>
          <a:bodyPr/>
          <a:lstStyle/>
          <a:p>
            <a:pPr marL="88900" indent="0" algn="just">
              <a:buNone/>
            </a:pPr>
            <a:r>
              <a:rPr lang="en-IN" sz="2000" b="1" dirty="0">
                <a:latin typeface="Times New Roman" panose="02020603050405020304" pitchFamily="18" charset="0"/>
                <a:cs typeface="Times New Roman" panose="02020603050405020304" pitchFamily="18" charset="0"/>
              </a:rPr>
              <a:t>AI Component</a:t>
            </a:r>
          </a:p>
          <a:p>
            <a:pPr algn="just"/>
            <a:r>
              <a:rPr lang="en-IN" sz="2000" b="1" dirty="0">
                <a:latin typeface="Times New Roman" panose="02020603050405020304" pitchFamily="18" charset="0"/>
                <a:cs typeface="Times New Roman" panose="02020603050405020304" pitchFamily="18" charset="0"/>
              </a:rPr>
              <a:t>Gemini 2.5 Flash</a:t>
            </a:r>
          </a:p>
          <a:p>
            <a:pPr marL="88900" indent="0" algn="just">
              <a:buNone/>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Uses real-time farm context, weather information, crop details, and 	Irrigation information to provide personalized agricultural assistance.</a:t>
            </a:r>
          </a:p>
          <a:p>
            <a:pPr algn="just"/>
            <a:r>
              <a:rPr lang="en-IN" sz="2000" b="1" dirty="0">
                <a:latin typeface="Times New Roman" panose="02020603050405020304" pitchFamily="18" charset="0"/>
                <a:cs typeface="Times New Roman" panose="02020603050405020304" pitchFamily="18" charset="0"/>
              </a:rPr>
              <a:t>Voice Assistance</a:t>
            </a:r>
            <a:endParaRPr lang="en-IN" sz="2000" dirty="0">
              <a:latin typeface="Times New Roman" panose="02020603050405020304" pitchFamily="18" charset="0"/>
              <a:cs typeface="Times New Roman" panose="02020603050405020304" pitchFamily="18" charset="0"/>
            </a:endParaRPr>
          </a:p>
          <a:p>
            <a:pPr marL="88900" indent="0" algn="just">
              <a:buNone/>
            </a:pPr>
            <a:r>
              <a:rPr lang="en-IN" sz="2000" dirty="0">
                <a:latin typeface="Times New Roman" panose="02020603050405020304" pitchFamily="18" charset="0"/>
                <a:cs typeface="Times New Roman" panose="02020603050405020304" pitchFamily="18" charset="0"/>
              </a:rPr>
              <a:t>	Speech-to-text and text-to-speech enable multilingual voice interaction.</a:t>
            </a:r>
          </a:p>
          <a:p>
            <a:pPr marL="88900" indent="0" algn="just">
              <a:buNone/>
            </a:pPr>
            <a:r>
              <a:rPr lang="en-IN" sz="2000" b="1" dirty="0">
                <a:latin typeface="Times New Roman" panose="02020603050405020304" pitchFamily="18" charset="0"/>
                <a:cs typeface="Times New Roman" panose="02020603050405020304" pitchFamily="18" charset="0"/>
              </a:rPr>
              <a:t>ML Components</a:t>
            </a:r>
          </a:p>
        </p:txBody>
      </p:sp>
      <p:graphicFrame>
        <p:nvGraphicFramePr>
          <p:cNvPr id="4" name="Table 3">
            <a:extLst>
              <a:ext uri="{FF2B5EF4-FFF2-40B4-BE49-F238E27FC236}">
                <a16:creationId xmlns:a16="http://schemas.microsoft.com/office/drawing/2014/main" id="{3F97337F-F6A7-CBC9-10F0-82D16011E503}"/>
              </a:ext>
            </a:extLst>
          </p:cNvPr>
          <p:cNvGraphicFramePr>
            <a:graphicFrameLocks noGrp="1"/>
          </p:cNvGraphicFramePr>
          <p:nvPr>
            <p:extLst>
              <p:ext uri="{D42A27DB-BD31-4B8C-83A1-F6EECF244321}">
                <p14:modId xmlns:p14="http://schemas.microsoft.com/office/powerpoint/2010/main" val="1386947724"/>
              </p:ext>
            </p:extLst>
          </p:nvPr>
        </p:nvGraphicFramePr>
        <p:xfrm>
          <a:off x="309500" y="3795753"/>
          <a:ext cx="8521700" cy="2468880"/>
        </p:xfrm>
        <a:graphic>
          <a:graphicData uri="http://schemas.openxmlformats.org/drawingml/2006/table">
            <a:tbl>
              <a:tblPr>
                <a:tableStyleId>{5C22544A-7EE6-4342-B048-85BDC9FD1C3A}</a:tableStyleId>
              </a:tblPr>
              <a:tblGrid>
                <a:gridCol w="4260850">
                  <a:extLst>
                    <a:ext uri="{9D8B030D-6E8A-4147-A177-3AD203B41FA5}">
                      <a16:colId xmlns:a16="http://schemas.microsoft.com/office/drawing/2014/main" val="1601184347"/>
                    </a:ext>
                  </a:extLst>
                </a:gridCol>
                <a:gridCol w="4260850">
                  <a:extLst>
                    <a:ext uri="{9D8B030D-6E8A-4147-A177-3AD203B41FA5}">
                      <a16:colId xmlns:a16="http://schemas.microsoft.com/office/drawing/2014/main" val="3556245562"/>
                    </a:ext>
                  </a:extLst>
                </a:gridCol>
              </a:tblGrid>
              <a:tr h="0">
                <a:tc>
                  <a:txBody>
                    <a:bodyPr/>
                    <a:lstStyle/>
                    <a:p>
                      <a:pPr>
                        <a:buNone/>
                      </a:pPr>
                      <a:r>
                        <a:rPr lang="en-IN" sz="1800" b="1" dirty="0">
                          <a:latin typeface="Times New Roman" panose="02020603050405020304" pitchFamily="18" charset="0"/>
                          <a:cs typeface="Times New Roman" panose="02020603050405020304" pitchFamily="18" charset="0"/>
                        </a:rPr>
                        <a:t>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b="1" dirty="0">
                          <a:latin typeface="Times New Roman" panose="02020603050405020304" pitchFamily="18" charset="0"/>
                          <a:cs typeface="Times New Roman" panose="02020603050405020304" pitchFamily="18" charset="0"/>
                        </a:rPr>
                        <a:t>Model / 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1763054"/>
                  </a:ext>
                </a:extLst>
              </a:tr>
              <a:tr h="0">
                <a:tc>
                  <a:txBody>
                    <a:bodyPr/>
                    <a:lstStyle/>
                    <a:p>
                      <a:pPr>
                        <a:buNone/>
                      </a:pPr>
                      <a:r>
                        <a:rPr lang="en-IN" sz="1800" dirty="0">
                          <a:latin typeface="Times New Roman" panose="02020603050405020304" pitchFamily="18" charset="0"/>
                          <a:cs typeface="Times New Roman" panose="02020603050405020304" pitchFamily="18" charset="0"/>
                        </a:rPr>
                        <a:t>Crop Recommendation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a:latin typeface="Times New Roman" panose="02020603050405020304" pitchFamily="18" charset="0"/>
                          <a:cs typeface="Times New Roman" panose="02020603050405020304" pitchFamily="18" charset="0"/>
                        </a:rPr>
                        <a:t>Random Forest Classifier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2019496"/>
                  </a:ext>
                </a:extLst>
              </a:tr>
              <a:tr h="0">
                <a:tc>
                  <a:txBody>
                    <a:bodyPr/>
                    <a:lstStyle/>
                    <a:p>
                      <a:pPr>
                        <a:buNone/>
                      </a:pPr>
                      <a:r>
                        <a:rPr lang="en-IN" sz="1800" dirty="0">
                          <a:latin typeface="Times New Roman" panose="02020603050405020304" pitchFamily="18" charset="0"/>
                          <a:cs typeface="Times New Roman" panose="02020603050405020304" pitchFamily="18" charset="0"/>
                        </a:rPr>
                        <a:t>Crop Rotation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a:latin typeface="Times New Roman" panose="02020603050405020304" pitchFamily="18" charset="0"/>
                          <a:cs typeface="Times New Roman" panose="02020603050405020304" pitchFamily="18" charset="0"/>
                        </a:rPr>
                        <a:t>Hybrid ML + Rule-based 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7551416"/>
                  </a:ext>
                </a:extLst>
              </a:tr>
              <a:tr h="0">
                <a:tc>
                  <a:txBody>
                    <a:bodyPr/>
                    <a:lstStyle/>
                    <a:p>
                      <a:pPr>
                        <a:buNone/>
                      </a:pPr>
                      <a:r>
                        <a:rPr lang="en-IN" sz="1800" dirty="0">
                          <a:latin typeface="Times New Roman" panose="02020603050405020304" pitchFamily="18" charset="0"/>
                          <a:cs typeface="Times New Roman" panose="02020603050405020304" pitchFamily="18" charset="0"/>
                        </a:rPr>
                        <a:t>Crop Image Recognition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a:latin typeface="Times New Roman" panose="02020603050405020304" pitchFamily="18" charset="0"/>
                          <a:cs typeface="Times New Roman" panose="02020603050405020304" pitchFamily="18" charset="0"/>
                        </a:rPr>
                        <a:t>MobileNetV2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7788767"/>
                  </a:ext>
                </a:extLst>
              </a:tr>
              <a:tr h="0">
                <a:tc>
                  <a:txBody>
                    <a:bodyPr/>
                    <a:lstStyle/>
                    <a:p>
                      <a:pPr>
                        <a:buNone/>
                      </a:pPr>
                      <a:r>
                        <a:rPr lang="en-IN" sz="1800" dirty="0">
                          <a:latin typeface="Times New Roman" panose="02020603050405020304" pitchFamily="18" charset="0"/>
                          <a:cs typeface="Times New Roman" panose="02020603050405020304" pitchFamily="18" charset="0"/>
                        </a:rPr>
                        <a:t>Price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a:latin typeface="Times New Roman" panose="02020603050405020304" pitchFamily="18" charset="0"/>
                          <a:cs typeface="Times New Roman" panose="02020603050405020304" pitchFamily="18" charset="0"/>
                        </a:rPr>
                        <a:t>Linear Regression / Trend Forecasting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960069"/>
                  </a:ext>
                </a:extLst>
              </a:tr>
              <a:tr h="0">
                <a:tc>
                  <a:txBody>
                    <a:bodyPr/>
                    <a:lstStyle/>
                    <a:p>
                      <a:pPr>
                        <a:buNone/>
                      </a:pPr>
                      <a:r>
                        <a:rPr lang="en-IN" sz="1800" dirty="0">
                          <a:latin typeface="Times New Roman" panose="02020603050405020304" pitchFamily="18" charset="0"/>
                          <a:cs typeface="Times New Roman" panose="02020603050405020304" pitchFamily="18" charset="0"/>
                        </a:rPr>
                        <a:t>Irrigation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dirty="0">
                          <a:latin typeface="Times New Roman" panose="02020603050405020304" pitchFamily="18" charset="0"/>
                          <a:cs typeface="Times New Roman" panose="02020603050405020304" pitchFamily="18" charset="0"/>
                        </a:rPr>
                        <a:t>Hargreaves ET₀ + Kc + Rule-based Decision Logic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7753340"/>
                  </a:ext>
                </a:extLst>
              </a:tr>
            </a:tbl>
          </a:graphicData>
        </a:graphic>
      </p:graphicFrame>
    </p:spTree>
    <p:extLst>
      <p:ext uri="{BB962C8B-B14F-4D97-AF65-F5344CB8AC3E}">
        <p14:creationId xmlns:p14="http://schemas.microsoft.com/office/powerpoint/2010/main" val="282609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Literature Review / Background Study</a:t>
            </a:r>
            <a:endParaRPr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EDB31DC-987A-A468-CDA8-6353EA6DBFFB}"/>
              </a:ext>
            </a:extLst>
          </p:cNvPr>
          <p:cNvPicPr>
            <a:picLocks noChangeAspect="1"/>
          </p:cNvPicPr>
          <p:nvPr/>
        </p:nvPicPr>
        <p:blipFill>
          <a:blip r:embed="rId3"/>
          <a:srcRect l="780" t="2393"/>
          <a:stretch>
            <a:fillRect/>
          </a:stretch>
        </p:blipFill>
        <p:spPr>
          <a:xfrm>
            <a:off x="757084" y="1445342"/>
            <a:ext cx="7898366" cy="4150786"/>
          </a:xfrm>
          <a:prstGeom prst="rect">
            <a:avLst/>
          </a:prstGeom>
        </p:spPr>
      </p:pic>
    </p:spTree>
    <p:extLst>
      <p:ext uri="{BB962C8B-B14F-4D97-AF65-F5344CB8AC3E}">
        <p14:creationId xmlns:p14="http://schemas.microsoft.com/office/powerpoint/2010/main" val="2609037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A1839-D63E-1FCC-FCE9-5EE14650334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Proposed Solution</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5788BD4-FC7B-D421-8A31-155E38A7F005}"/>
              </a:ext>
            </a:extLst>
          </p:cNvPr>
          <p:cNvSpPr>
            <a:spLocks noGrp="1"/>
          </p:cNvSpPr>
          <p:nvPr>
            <p:ph type="body" idx="1"/>
          </p:nvPr>
        </p:nvSpPr>
        <p:spPr/>
        <p:txBody>
          <a:bodyPr/>
          <a:lstStyle/>
          <a:p>
            <a:pPr algn="just"/>
            <a:r>
              <a:rPr lang="en-IN" sz="2000" dirty="0">
                <a:latin typeface="Times New Roman" panose="02020603050405020304" pitchFamily="18" charset="0"/>
                <a:cs typeface="Times New Roman" panose="02020603050405020304" pitchFamily="18" charset="0"/>
              </a:rPr>
              <a:t>The platform provides machine learning-based crop recommendations and crop rotation plans by considering soil suitability, previous crops, and relevant agricultural factors.</a:t>
            </a:r>
          </a:p>
          <a:p>
            <a:pPr algn="just"/>
            <a:r>
              <a:rPr lang="en-IN" sz="2000" dirty="0">
                <a:latin typeface="Times New Roman" panose="02020603050405020304" pitchFamily="18" charset="0"/>
                <a:cs typeface="Times New Roman" panose="02020603050405020304" pitchFamily="18" charset="0"/>
              </a:rPr>
              <a:t>The system identifies crops from images and provides crop price estimates and future price trends using market data from AGMARKNET.</a:t>
            </a:r>
          </a:p>
          <a:p>
            <a:pPr algn="just"/>
            <a:r>
              <a:rPr lang="en-IN" sz="2000" dirty="0" err="1">
                <a:latin typeface="Times New Roman" panose="02020603050405020304" pitchFamily="18" charset="0"/>
                <a:cs typeface="Times New Roman" panose="02020603050405020304" pitchFamily="18" charset="0"/>
              </a:rPr>
              <a:t>AgriMitra</a:t>
            </a:r>
            <a:r>
              <a:rPr lang="en-IN" sz="2000" dirty="0">
                <a:latin typeface="Times New Roman" panose="02020603050405020304" pitchFamily="18" charset="0"/>
                <a:cs typeface="Times New Roman" panose="02020603050405020304" pitchFamily="18" charset="0"/>
              </a:rPr>
              <a:t> monitors real-time soil moisture, temperature, humidity, and weather conditions to provide farmers with up-to-date information about their farm environment.</a:t>
            </a:r>
          </a:p>
          <a:p>
            <a:pPr algn="just"/>
            <a:r>
              <a:rPr lang="en-IN" sz="2000" dirty="0">
                <a:latin typeface="Times New Roman" panose="02020603050405020304" pitchFamily="18" charset="0"/>
                <a:cs typeface="Times New Roman" panose="02020603050405020304" pitchFamily="18" charset="0"/>
              </a:rPr>
              <a:t>The system determines irrigation requirements using Hargreaves ET₀, crop coefficient (Kc), crop growth stage, soil moisture, and rainfall probability.</a:t>
            </a:r>
          </a:p>
          <a:p>
            <a:pPr algn="just"/>
            <a:r>
              <a:rPr lang="en-IN" sz="2000" dirty="0">
                <a:latin typeface="Times New Roman" panose="02020603050405020304" pitchFamily="18" charset="0"/>
                <a:cs typeface="Times New Roman" panose="02020603050405020304" pitchFamily="18" charset="0"/>
              </a:rPr>
              <a:t>A Gemini 2.5 Flash-powered AI assistant uses real-time farm data to provide personalized agricultural guidance through multilingual text and voice interaction.</a:t>
            </a:r>
          </a:p>
        </p:txBody>
      </p:sp>
    </p:spTree>
    <p:extLst>
      <p:ext uri="{BB962C8B-B14F-4D97-AF65-F5344CB8AC3E}">
        <p14:creationId xmlns:p14="http://schemas.microsoft.com/office/powerpoint/2010/main" val="3695810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01891-B5BE-7DA2-DD3D-CCA6EED9C2A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4A08821-F166-27B3-F57A-967F250EE8CB}"/>
              </a:ext>
            </a:extLst>
          </p:cNvPr>
          <p:cNvSpPr>
            <a:spLocks noGrp="1"/>
          </p:cNvSpPr>
          <p:nvPr>
            <p:ph type="body" idx="1"/>
          </p:nvPr>
        </p:nvSpPr>
        <p:spPr/>
        <p:txBody>
          <a:bodyPr/>
          <a:lstStyle/>
          <a:p>
            <a:pPr marL="88900" indent="0">
              <a:buNone/>
            </a:pPr>
            <a:r>
              <a:rPr lang="en-IN" sz="2000" b="1" dirty="0">
                <a:latin typeface="Times New Roman" panose="02020603050405020304" pitchFamily="18" charset="0"/>
                <a:cs typeface="Times New Roman" panose="02020603050405020304" pitchFamily="18" charset="0"/>
              </a:rPr>
              <a:t>Crop Rotation &amp; Scheduling</a:t>
            </a:r>
          </a:p>
          <a:p>
            <a:pPr lvl="0"/>
            <a:r>
              <a:rPr lang="en-IN" sz="2000" dirty="0">
                <a:latin typeface="Times New Roman" panose="02020603050405020304" pitchFamily="18" charset="0"/>
                <a:cs typeface="Times New Roman" panose="02020603050405020304" pitchFamily="18" charset="0"/>
              </a:rPr>
              <a:t>Recommends suitable crop sequences based on </a:t>
            </a:r>
            <a:r>
              <a:rPr lang="en-IN" sz="2000" b="1" dirty="0">
                <a:latin typeface="Times New Roman" panose="02020603050405020304" pitchFamily="18" charset="0"/>
                <a:cs typeface="Times New Roman" panose="02020603050405020304" pitchFamily="18" charset="0"/>
              </a:rPr>
              <a:t>soil conditions and previous crops</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Suggests appropriate </a:t>
            </a:r>
            <a:r>
              <a:rPr lang="en-IN" sz="2000" b="1" dirty="0">
                <a:latin typeface="Times New Roman" panose="02020603050405020304" pitchFamily="18" charset="0"/>
                <a:cs typeface="Times New Roman" panose="02020603050405020304" pitchFamily="18" charset="0"/>
              </a:rPr>
              <a:t>farming activities and schedules</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Uses </a:t>
            </a:r>
            <a:r>
              <a:rPr lang="en-IN" sz="2000" b="1" dirty="0">
                <a:latin typeface="Times New Roman" panose="02020603050405020304" pitchFamily="18" charset="0"/>
                <a:cs typeface="Times New Roman" panose="02020603050405020304" pitchFamily="18" charset="0"/>
              </a:rPr>
              <a:t>machine learning and rule-based analysis</a:t>
            </a:r>
            <a:r>
              <a:rPr lang="en-IN" sz="2000" dirty="0">
                <a:latin typeface="Times New Roman" panose="02020603050405020304" pitchFamily="18" charset="0"/>
                <a:cs typeface="Times New Roman" panose="02020603050405020304" pitchFamily="18" charset="0"/>
              </a:rPr>
              <a:t> for crop planning.</a:t>
            </a:r>
          </a:p>
          <a:p>
            <a:pPr marL="88900" lvl="0" indent="0">
              <a:buNone/>
            </a:pPr>
            <a:r>
              <a:rPr lang="en-IN" sz="2000" dirty="0">
                <a:latin typeface="Times New Roman" panose="02020603050405020304" pitchFamily="18" charset="0"/>
                <a:cs typeface="Times New Roman" panose="02020603050405020304" pitchFamily="18" charset="0"/>
              </a:rPr>
              <a:t> </a:t>
            </a:r>
          </a:p>
          <a:p>
            <a:pPr marL="88900" lvl="0" indent="0">
              <a:buNone/>
            </a:pPr>
            <a:r>
              <a:rPr lang="en-IN" sz="2000" b="1" dirty="0">
                <a:latin typeface="Times New Roman" panose="02020603050405020304" pitchFamily="18" charset="0"/>
                <a:cs typeface="Times New Roman" panose="02020603050405020304" pitchFamily="18" charset="0"/>
              </a:rPr>
              <a:t>Image-Based Crop Price Prediction</a:t>
            </a:r>
          </a:p>
          <a:p>
            <a:pPr lvl="0"/>
            <a:r>
              <a:rPr lang="en-IN" sz="2000" dirty="0">
                <a:latin typeface="Times New Roman" panose="02020603050405020304" pitchFamily="18" charset="0"/>
                <a:cs typeface="Times New Roman" panose="02020603050405020304" pitchFamily="18" charset="0"/>
              </a:rPr>
              <a:t>Identifies the crop from an </a:t>
            </a:r>
            <a:r>
              <a:rPr lang="en-IN" sz="2000" b="1" dirty="0">
                <a:latin typeface="Times New Roman" panose="02020603050405020304" pitchFamily="18" charset="0"/>
                <a:cs typeface="Times New Roman" panose="02020603050405020304" pitchFamily="18" charset="0"/>
              </a:rPr>
              <a:t>uploaded image using MobileNetV2</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Retrieves relevant </a:t>
            </a:r>
            <a:r>
              <a:rPr lang="en-IN" sz="2000" b="1" dirty="0">
                <a:latin typeface="Times New Roman" panose="02020603050405020304" pitchFamily="18" charset="0"/>
                <a:cs typeface="Times New Roman" panose="02020603050405020304" pitchFamily="18" charset="0"/>
              </a:rPr>
              <a:t>market price data</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Predicts </a:t>
            </a:r>
            <a:r>
              <a:rPr lang="en-IN" sz="2000" b="1" dirty="0">
                <a:latin typeface="Times New Roman" panose="02020603050405020304" pitchFamily="18" charset="0"/>
                <a:cs typeface="Times New Roman" panose="02020603050405020304" pitchFamily="18" charset="0"/>
              </a:rPr>
              <a:t>current and future crop price trends</a:t>
            </a:r>
            <a:r>
              <a:rPr lang="en-IN" sz="2000" dirty="0">
                <a:latin typeface="Times New Roman" panose="02020603050405020304" pitchFamily="18" charset="0"/>
                <a:cs typeface="Times New Roman" panose="02020603050405020304" pitchFamily="18" charset="0"/>
              </a:rPr>
              <a:t> using historical data.</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0398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06A6B-A621-3BC3-CC04-6485FEE03765}"/>
              </a:ext>
            </a:extLst>
          </p:cNvPr>
          <p:cNvSpPr>
            <a:spLocks noGrp="1"/>
          </p:cNvSpPr>
          <p:nvPr>
            <p:ph type="title"/>
          </p:nvPr>
        </p:nvSpPr>
        <p:spPr/>
        <p:txBody>
          <a:bodyPr/>
          <a:lstStyle/>
          <a:p>
            <a:r>
              <a:rPr lang="en-US" dirty="0"/>
              <a:t>Screenshots</a:t>
            </a:r>
            <a:endParaRPr lang="en-IN" dirty="0"/>
          </a:p>
        </p:txBody>
      </p:sp>
      <p:sp>
        <p:nvSpPr>
          <p:cNvPr id="3" name="Text Placeholder 2">
            <a:extLst>
              <a:ext uri="{FF2B5EF4-FFF2-40B4-BE49-F238E27FC236}">
                <a16:creationId xmlns:a16="http://schemas.microsoft.com/office/drawing/2014/main" id="{0797EE4D-AF58-4764-7254-3EF20A63143A}"/>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EA3C6FB4-419D-7EA5-91A4-DDC3A4D80C71}"/>
              </a:ext>
            </a:extLst>
          </p:cNvPr>
          <p:cNvPicPr>
            <a:picLocks noChangeAspect="1"/>
          </p:cNvPicPr>
          <p:nvPr/>
        </p:nvPicPr>
        <p:blipFill>
          <a:blip r:embed="rId2"/>
          <a:stretch>
            <a:fillRect/>
          </a:stretch>
        </p:blipFill>
        <p:spPr>
          <a:xfrm>
            <a:off x="311700" y="1536633"/>
            <a:ext cx="7298468" cy="3717657"/>
          </a:xfrm>
          <a:prstGeom prst="rect">
            <a:avLst/>
          </a:prstGeom>
        </p:spPr>
      </p:pic>
    </p:spTree>
    <p:extLst>
      <p:ext uri="{BB962C8B-B14F-4D97-AF65-F5344CB8AC3E}">
        <p14:creationId xmlns:p14="http://schemas.microsoft.com/office/powerpoint/2010/main" val="1753843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A86E1-20D3-B02A-5154-3832DC69496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F7BC316-D81C-1C15-E36A-8D9FE18233B2}"/>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14483CF4-95E3-5720-7D5D-5CE4828376C4}"/>
              </a:ext>
            </a:extLst>
          </p:cNvPr>
          <p:cNvPicPr>
            <a:picLocks noChangeAspect="1"/>
          </p:cNvPicPr>
          <p:nvPr/>
        </p:nvPicPr>
        <p:blipFill>
          <a:blip r:embed="rId2"/>
          <a:stretch>
            <a:fillRect/>
          </a:stretch>
        </p:blipFill>
        <p:spPr>
          <a:xfrm>
            <a:off x="3017520" y="3407128"/>
            <a:ext cx="5615070" cy="2684706"/>
          </a:xfrm>
          <a:prstGeom prst="rect">
            <a:avLst/>
          </a:prstGeom>
        </p:spPr>
      </p:pic>
      <p:pic>
        <p:nvPicPr>
          <p:cNvPr id="7" name="Picture 6">
            <a:extLst>
              <a:ext uri="{FF2B5EF4-FFF2-40B4-BE49-F238E27FC236}">
                <a16:creationId xmlns:a16="http://schemas.microsoft.com/office/drawing/2014/main" id="{C75E8C29-42A3-7EB8-5E5D-585BA268D25A}"/>
              </a:ext>
            </a:extLst>
          </p:cNvPr>
          <p:cNvPicPr>
            <a:picLocks noChangeAspect="1"/>
          </p:cNvPicPr>
          <p:nvPr/>
        </p:nvPicPr>
        <p:blipFill>
          <a:blip r:embed="rId3"/>
          <a:stretch>
            <a:fillRect/>
          </a:stretch>
        </p:blipFill>
        <p:spPr>
          <a:xfrm>
            <a:off x="235500" y="403860"/>
            <a:ext cx="5889496" cy="2797511"/>
          </a:xfrm>
          <a:prstGeom prst="rect">
            <a:avLst/>
          </a:prstGeom>
        </p:spPr>
      </p:pic>
    </p:spTree>
    <p:extLst>
      <p:ext uri="{BB962C8B-B14F-4D97-AF65-F5344CB8AC3E}">
        <p14:creationId xmlns:p14="http://schemas.microsoft.com/office/powerpoint/2010/main" val="403322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544876"/>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Timeline</a:t>
            </a:r>
            <a:endParaRPr dirty="0">
              <a:latin typeface="Times New Roman" panose="02020603050405020304" pitchFamily="18" charset="0"/>
              <a:cs typeface="Times New Roman" panose="02020603050405020304" pitchFamily="18" charset="0"/>
            </a:endParaRPr>
          </a:p>
        </p:txBody>
      </p:sp>
      <p:sp>
        <p:nvSpPr>
          <p:cNvPr id="124" name="Shape 124"/>
          <p:cNvSpPr txBox="1">
            <a:spLocks noGrp="1"/>
          </p:cNvSpPr>
          <p:nvPr>
            <p:ph type="body" idx="1"/>
          </p:nvPr>
        </p:nvSpPr>
        <p:spPr>
          <a:xfrm>
            <a:off x="311700" y="1536976"/>
            <a:ext cx="8403675" cy="4212659"/>
          </a:xfrm>
          <a:prstGeom prst="rect">
            <a:avLst/>
          </a:prstGeom>
        </p:spPr>
        <p:txBody>
          <a:bodyPr spcFirstLastPara="1" wrap="square" lIns="91425" tIns="91425" rIns="91425" bIns="91425" anchor="t" anchorCtr="0">
            <a:noAutofit/>
          </a:bodyPr>
          <a:lstStyle/>
          <a:p>
            <a:endParaRPr lang="en-IN" sz="2500" dirty="0">
              <a:latin typeface="Book Antiqua" panose="02040602050305030304" pitchFamily="18" charset="0"/>
            </a:endParaRPr>
          </a:p>
          <a:p>
            <a:endParaRPr lang="en-IN" sz="2500" dirty="0">
              <a:latin typeface="Book Antiqua" panose="02040602050305030304" pitchFamily="18" charset="0"/>
            </a:endParaRPr>
          </a:p>
          <a:p>
            <a:endParaRPr lang="en-IN" sz="2500" dirty="0">
              <a:latin typeface="Book Antiqua" panose="02040602050305030304" pitchFamily="18" charset="0"/>
            </a:endParaRPr>
          </a:p>
          <a:p>
            <a:pPr marL="88900" indent="0">
              <a:buNone/>
            </a:pPr>
            <a:endParaRPr lang="en-IN" sz="2500" dirty="0">
              <a:latin typeface="Book Antiqua" panose="02040602050305030304" pitchFamily="18" charset="0"/>
            </a:endParaRPr>
          </a:p>
        </p:txBody>
      </p:sp>
      <p:sp>
        <p:nvSpPr>
          <p:cNvPr id="6" name="Shape 124"/>
          <p:cNvSpPr txBox="1">
            <a:spLocks/>
          </p:cNvSpPr>
          <p:nvPr/>
        </p:nvSpPr>
        <p:spPr>
          <a:xfrm>
            <a:off x="311700" y="1540423"/>
            <a:ext cx="8403675" cy="45456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pPr marL="88900" indent="0">
              <a:buNone/>
            </a:pPr>
            <a:endParaRPr lang="en-IN" sz="25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86E69B69-EE66-1749-3AFD-CC67AD8AEB37}"/>
              </a:ext>
            </a:extLst>
          </p:cNvPr>
          <p:cNvGraphicFramePr>
            <a:graphicFrameLocks noGrp="1"/>
          </p:cNvGraphicFramePr>
          <p:nvPr>
            <p:extLst>
              <p:ext uri="{D42A27DB-BD31-4B8C-83A1-F6EECF244321}">
                <p14:modId xmlns:p14="http://schemas.microsoft.com/office/powerpoint/2010/main" val="3568682574"/>
              </p:ext>
            </p:extLst>
          </p:nvPr>
        </p:nvGraphicFramePr>
        <p:xfrm>
          <a:off x="833269" y="1308376"/>
          <a:ext cx="7360536" cy="4831180"/>
        </p:xfrm>
        <a:graphic>
          <a:graphicData uri="http://schemas.openxmlformats.org/drawingml/2006/table">
            <a:tbl>
              <a:tblPr/>
              <a:tblGrid>
                <a:gridCol w="2453512">
                  <a:extLst>
                    <a:ext uri="{9D8B030D-6E8A-4147-A177-3AD203B41FA5}">
                      <a16:colId xmlns:a16="http://schemas.microsoft.com/office/drawing/2014/main" val="2037528652"/>
                    </a:ext>
                  </a:extLst>
                </a:gridCol>
                <a:gridCol w="2453512">
                  <a:extLst>
                    <a:ext uri="{9D8B030D-6E8A-4147-A177-3AD203B41FA5}">
                      <a16:colId xmlns:a16="http://schemas.microsoft.com/office/drawing/2014/main" val="3551102322"/>
                    </a:ext>
                  </a:extLst>
                </a:gridCol>
                <a:gridCol w="2453512">
                  <a:extLst>
                    <a:ext uri="{9D8B030D-6E8A-4147-A177-3AD203B41FA5}">
                      <a16:colId xmlns:a16="http://schemas.microsoft.com/office/drawing/2014/main" val="3257128444"/>
                    </a:ext>
                  </a:extLst>
                </a:gridCol>
              </a:tblGrid>
              <a:tr h="263268">
                <a:tc>
                  <a:txBody>
                    <a:bodyPr/>
                    <a:lstStyle/>
                    <a:p>
                      <a:pPr>
                        <a:buNone/>
                      </a:pPr>
                      <a:r>
                        <a:rPr lang="en-IN" sz="1300" b="1" dirty="0">
                          <a:latin typeface="Times New Roman" panose="02020603050405020304" pitchFamily="18" charset="0"/>
                          <a:cs typeface="Times New Roman" panose="02020603050405020304" pitchFamily="18" charset="0"/>
                        </a:rPr>
                        <a:t>Phase</a:t>
                      </a:r>
                      <a:endParaRPr lang="en-IN" sz="1300" dirty="0">
                        <a:latin typeface="Times New Roman" panose="02020603050405020304" pitchFamily="18" charset="0"/>
                        <a:cs typeface="Times New Roman" panose="02020603050405020304" pitchFamily="18" charset="0"/>
                      </a:endParaRP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b="1">
                          <a:latin typeface="Times New Roman" panose="02020603050405020304" pitchFamily="18" charset="0"/>
                          <a:cs typeface="Times New Roman" panose="02020603050405020304" pitchFamily="18" charset="0"/>
                        </a:rPr>
                        <a:t>Duration</a:t>
                      </a:r>
                      <a:endParaRPr lang="en-IN" sz="1300">
                        <a:latin typeface="Times New Roman" panose="02020603050405020304" pitchFamily="18" charset="0"/>
                        <a:cs typeface="Times New Roman" panose="02020603050405020304" pitchFamily="18" charset="0"/>
                      </a:endParaRP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b="1">
                          <a:latin typeface="Times New Roman" panose="02020603050405020304" pitchFamily="18" charset="0"/>
                          <a:cs typeface="Times New Roman" panose="02020603050405020304" pitchFamily="18" charset="0"/>
                        </a:rPr>
                        <a:t>Deliverable</a:t>
                      </a:r>
                      <a:endParaRPr lang="en-IN" sz="1300">
                        <a:latin typeface="Times New Roman" panose="02020603050405020304" pitchFamily="18" charset="0"/>
                        <a:cs typeface="Times New Roman" panose="02020603050405020304" pitchFamily="18" charset="0"/>
                      </a:endParaRP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8508011"/>
                  </a:ext>
                </a:extLst>
              </a:tr>
              <a:tr h="447556">
                <a:tc>
                  <a:txBody>
                    <a:bodyPr/>
                    <a:lstStyle/>
                    <a:p>
                      <a:pPr>
                        <a:buNone/>
                      </a:pPr>
                      <a:r>
                        <a:rPr lang="en-IN" sz="1300">
                          <a:latin typeface="Times New Roman" panose="02020603050405020304" pitchFamily="18" charset="0"/>
                          <a:cs typeface="Times New Roman" panose="02020603050405020304" pitchFamily="18" charset="0"/>
                        </a:rPr>
                        <a:t>Requirement analysis &amp; literature review</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Weeks 1–2</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Finalized scope, reviewed prior work</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3757634"/>
                  </a:ext>
                </a:extLst>
              </a:tr>
              <a:tr h="447556">
                <a:tc>
                  <a:txBody>
                    <a:bodyPr/>
                    <a:lstStyle/>
                    <a:p>
                      <a:pPr>
                        <a:buNone/>
                      </a:pPr>
                      <a:r>
                        <a:rPr lang="en-IN" sz="1300">
                          <a:latin typeface="Times New Roman" panose="02020603050405020304" pitchFamily="18" charset="0"/>
                          <a:cs typeface="Times New Roman" panose="02020603050405020304" pitchFamily="18" charset="0"/>
                        </a:rPr>
                        <a:t>Hardware setup &amp; sensor integration</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Weeks 3–4</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ESP32 + sensors + relay + pump functional</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3118931"/>
                  </a:ext>
                </a:extLst>
              </a:tr>
              <a:tr h="447556">
                <a:tc>
                  <a:txBody>
                    <a:bodyPr/>
                    <a:lstStyle/>
                    <a:p>
                      <a:pPr>
                        <a:buNone/>
                      </a:pPr>
                      <a:r>
                        <a:rPr lang="en-IN" sz="1300">
                          <a:latin typeface="Times New Roman" panose="02020603050405020304" pitchFamily="18" charset="0"/>
                          <a:cs typeface="Times New Roman" panose="02020603050405020304" pitchFamily="18" charset="0"/>
                        </a:rPr>
                        <a:t>Backend &amp; database architecture</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Weeks 5–6</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MQTT pipeline, MongoDB, REST APIs</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3437729"/>
                  </a:ext>
                </a:extLst>
              </a:tr>
              <a:tr h="447556">
                <a:tc>
                  <a:txBody>
                    <a:bodyPr/>
                    <a:lstStyle/>
                    <a:p>
                      <a:pPr>
                        <a:buNone/>
                      </a:pPr>
                      <a:r>
                        <a:rPr lang="en-IN" sz="1300">
                          <a:latin typeface="Times New Roman" panose="02020603050405020304" pitchFamily="18" charset="0"/>
                          <a:cs typeface="Times New Roman" panose="02020603050405020304" pitchFamily="18" charset="0"/>
                        </a:rPr>
                        <a:t>Irrigation logic (ET₀ engine)</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Weeks 7–8</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Weather-grounded irrigation scheduling</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1152838"/>
                  </a:ext>
                </a:extLst>
              </a:tr>
              <a:tr h="447556">
                <a:tc>
                  <a:txBody>
                    <a:bodyPr/>
                    <a:lstStyle/>
                    <a:p>
                      <a:pPr>
                        <a:buNone/>
                      </a:pPr>
                      <a:r>
                        <a:rPr lang="en-IN" sz="1300">
                          <a:latin typeface="Times New Roman" panose="02020603050405020304" pitchFamily="18" charset="0"/>
                          <a:cs typeface="Times New Roman" panose="02020603050405020304" pitchFamily="18" charset="0"/>
                        </a:rPr>
                        <a:t>Crop recommendation ML model</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dirty="0">
                          <a:latin typeface="Times New Roman" panose="02020603050405020304" pitchFamily="18" charset="0"/>
                          <a:cs typeface="Times New Roman" panose="02020603050405020304" pitchFamily="18" charset="0"/>
                        </a:rPr>
                        <a:t>Week 9</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Trained and served model (99.55% accuracy)</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0734633"/>
                  </a:ext>
                </a:extLst>
              </a:tr>
              <a:tr h="447556">
                <a:tc>
                  <a:txBody>
                    <a:bodyPr/>
                    <a:lstStyle/>
                    <a:p>
                      <a:pPr>
                        <a:buNone/>
                      </a:pPr>
                      <a:r>
                        <a:rPr lang="en-IN" sz="1300">
                          <a:latin typeface="Times New Roman" panose="02020603050405020304" pitchFamily="18" charset="0"/>
                          <a:cs typeface="Times New Roman" panose="02020603050405020304" pitchFamily="18" charset="0"/>
                        </a:rPr>
                        <a:t>Conversational AI + voice assistant</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Weeks 10–12</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Grounded chatbot, multilingual voice I/O</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6012877"/>
                  </a:ext>
                </a:extLst>
              </a:tr>
              <a:tr h="447556">
                <a:tc>
                  <a:txBody>
                    <a:bodyPr/>
                    <a:lstStyle/>
                    <a:p>
                      <a:pPr>
                        <a:buNone/>
                      </a:pPr>
                      <a:r>
                        <a:rPr lang="en-IN" sz="1300">
                          <a:latin typeface="Times New Roman" panose="02020603050405020304" pitchFamily="18" charset="0"/>
                          <a:cs typeface="Times New Roman" panose="02020603050405020304" pitchFamily="18" charset="0"/>
                        </a:rPr>
                        <a:t>Authentication, alerts, farm calendar</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Weeks 13–14</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Secure login, notification system, auto-calendar</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4729905"/>
                  </a:ext>
                </a:extLst>
              </a:tr>
              <a:tr h="447556">
                <a:tc>
                  <a:txBody>
                    <a:bodyPr/>
                    <a:lstStyle/>
                    <a:p>
                      <a:pPr>
                        <a:buNone/>
                      </a:pPr>
                      <a:r>
                        <a:rPr lang="en-IN" sz="1300">
                          <a:latin typeface="Times New Roman" panose="02020603050405020304" pitchFamily="18" charset="0"/>
                          <a:cs typeface="Times New Roman" panose="02020603050405020304" pitchFamily="18" charset="0"/>
                        </a:rPr>
                        <a:t>Hardware-software full integration</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Weeks 15–16</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Real ESP32 replacing simulated sensor data</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8524513"/>
                  </a:ext>
                </a:extLst>
              </a:tr>
              <a:tr h="447556">
                <a:tc>
                  <a:txBody>
                    <a:bodyPr/>
                    <a:lstStyle/>
                    <a:p>
                      <a:pPr>
                        <a:buNone/>
                      </a:pPr>
                      <a:r>
                        <a:rPr lang="en-IN" sz="1300">
                          <a:latin typeface="Times New Roman" panose="02020603050405020304" pitchFamily="18" charset="0"/>
                          <a:cs typeface="Times New Roman" panose="02020603050405020304" pitchFamily="18" charset="0"/>
                        </a:rPr>
                        <a:t>Testing, refinement, documentation</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Weeks 17–18</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End-to-end testing, report writing</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8958278"/>
                  </a:ext>
                </a:extLst>
              </a:tr>
              <a:tr h="263268">
                <a:tc>
                  <a:txBody>
                    <a:bodyPr/>
                    <a:lstStyle/>
                    <a:p>
                      <a:pPr>
                        <a:buNone/>
                      </a:pPr>
                      <a:r>
                        <a:rPr lang="en-IN" sz="1300">
                          <a:latin typeface="Times New Roman" panose="02020603050405020304" pitchFamily="18" charset="0"/>
                          <a:cs typeface="Times New Roman" panose="02020603050405020304" pitchFamily="18" charset="0"/>
                        </a:rPr>
                        <a:t>Final review &amp; viva preparation</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a:latin typeface="Times New Roman" panose="02020603050405020304" pitchFamily="18" charset="0"/>
                          <a:cs typeface="Times New Roman" panose="02020603050405020304" pitchFamily="18" charset="0"/>
                        </a:rPr>
                        <a:t>Week 19+</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dirty="0">
                          <a:latin typeface="Times New Roman" panose="02020603050405020304" pitchFamily="18" charset="0"/>
                          <a:cs typeface="Times New Roman" panose="02020603050405020304" pitchFamily="18" charset="0"/>
                        </a:rPr>
                        <a:t>Presentation, demo readiness</a:t>
                      </a:r>
                    </a:p>
                  </a:txBody>
                  <a:tcPr marL="78980" marR="78980" marT="39490" marB="394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2239792"/>
                  </a:ext>
                </a:extLst>
              </a:tr>
            </a:tbl>
          </a:graphicData>
        </a:graphic>
      </p:graphicFrame>
    </p:spTree>
    <p:extLst>
      <p:ext uri="{BB962C8B-B14F-4D97-AF65-F5344CB8AC3E}">
        <p14:creationId xmlns:p14="http://schemas.microsoft.com/office/powerpoint/2010/main" val="1926442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title"/>
          </p:nvPr>
        </p:nvSpPr>
        <p:spPr>
          <a:xfrm>
            <a:off x="311700" y="647062"/>
            <a:ext cx="8520600" cy="7635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IN"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124" name="Shape 124"/>
          <p:cNvSpPr txBox="1">
            <a:spLocks noGrp="1"/>
          </p:cNvSpPr>
          <p:nvPr>
            <p:ph type="body" idx="1"/>
          </p:nvPr>
        </p:nvSpPr>
        <p:spPr>
          <a:xfrm>
            <a:off x="311700" y="1536976"/>
            <a:ext cx="8403675" cy="4212659"/>
          </a:xfrm>
          <a:prstGeom prst="rect">
            <a:avLst/>
          </a:prstGeom>
        </p:spPr>
        <p:txBody>
          <a:bodyPr spcFirstLastPara="1" wrap="square" lIns="91425" tIns="91425" rIns="91425" bIns="91425" anchor="t" anchorCtr="0">
            <a:noAutofit/>
          </a:bodyPr>
          <a:lstStyle/>
          <a:p>
            <a:endParaRPr lang="en-IN" sz="2500" dirty="0">
              <a:latin typeface="Book Antiqua" panose="02040602050305030304" pitchFamily="18" charset="0"/>
            </a:endParaRPr>
          </a:p>
          <a:p>
            <a:endParaRPr lang="en-IN" sz="2500" dirty="0">
              <a:latin typeface="Book Antiqua" panose="02040602050305030304" pitchFamily="18" charset="0"/>
            </a:endParaRPr>
          </a:p>
          <a:p>
            <a:endParaRPr lang="en-IN" sz="2500" dirty="0">
              <a:latin typeface="Book Antiqua" panose="02040602050305030304" pitchFamily="18" charset="0"/>
            </a:endParaRPr>
          </a:p>
          <a:p>
            <a:pPr marL="88900" indent="0">
              <a:buNone/>
            </a:pPr>
            <a:endParaRPr lang="en-IN" sz="2500" dirty="0">
              <a:latin typeface="Book Antiqua" panose="02040602050305030304" pitchFamily="18" charset="0"/>
            </a:endParaRPr>
          </a:p>
        </p:txBody>
      </p:sp>
      <p:sp>
        <p:nvSpPr>
          <p:cNvPr id="6" name="Shape 124"/>
          <p:cNvSpPr txBox="1">
            <a:spLocks/>
          </p:cNvSpPr>
          <p:nvPr/>
        </p:nvSpPr>
        <p:spPr>
          <a:xfrm>
            <a:off x="311700" y="1540423"/>
            <a:ext cx="8403675" cy="45456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pPr marL="88900" indent="0" algn="just">
              <a:lnSpc>
                <a:spcPct val="150000"/>
              </a:lnSpc>
              <a:buNone/>
            </a:pPr>
            <a:r>
              <a:rPr lang="en-IN" sz="2000" dirty="0"/>
              <a:t>1. El </a:t>
            </a:r>
            <a:r>
              <a:rPr lang="en-IN" sz="2000" dirty="0" err="1"/>
              <a:t>Mezouari</a:t>
            </a:r>
            <a:r>
              <a:rPr lang="en-IN" sz="2000" dirty="0"/>
              <a:t>, A. E., </a:t>
            </a:r>
            <a:r>
              <a:rPr lang="en-IN" sz="2000" dirty="0" err="1"/>
              <a:t>Fazziki</a:t>
            </a:r>
            <a:r>
              <a:rPr lang="en-IN" sz="2000" dirty="0"/>
              <a:t>, A. E., and </a:t>
            </a:r>
            <a:r>
              <a:rPr lang="en-IN" sz="2000" dirty="0" err="1"/>
              <a:t>Sadgal</a:t>
            </a:r>
            <a:r>
              <a:rPr lang="en-IN" sz="2000" dirty="0"/>
              <a:t>, M., "Smart Irrigation System," </a:t>
            </a:r>
            <a:r>
              <a:rPr lang="en-IN" sz="2000" i="1" dirty="0"/>
              <a:t>IFAC-</a:t>
            </a:r>
            <a:r>
              <a:rPr lang="en-IN" sz="2000" i="1" dirty="0" err="1"/>
              <a:t>PapersOnLine</a:t>
            </a:r>
            <a:r>
              <a:rPr lang="en-IN" sz="2000" dirty="0"/>
              <a:t>, vol. 55, no. 10, pp. 3298–3303, 2022. DOI: 10.1016/j.ifacol.2022.10.125. </a:t>
            </a:r>
          </a:p>
          <a:p>
            <a:pPr marL="88900" indent="0" algn="just">
              <a:lnSpc>
                <a:spcPct val="150000"/>
              </a:lnSpc>
              <a:buNone/>
            </a:pPr>
            <a:r>
              <a:rPr lang="en-IN" sz="2000" dirty="0"/>
              <a:t>2. </a:t>
            </a:r>
            <a:r>
              <a:rPr lang="en-IN" sz="2000" dirty="0" err="1"/>
              <a:t>Badreldeen</a:t>
            </a:r>
            <a:r>
              <a:rPr lang="en-IN" sz="2000" dirty="0"/>
              <a:t> et al., "Smart irrigation system based on IoT and machine learning," </a:t>
            </a:r>
            <a:r>
              <a:rPr lang="en-IN" sz="2000" i="1" dirty="0"/>
              <a:t>Smart Agricultural Technology</a:t>
            </a:r>
            <a:r>
              <a:rPr lang="en-IN" sz="2000" dirty="0"/>
              <a:t>, vol. 3, 2022. DOI: 10.1016/j.ssaho.2022.100147. </a:t>
            </a:r>
          </a:p>
          <a:p>
            <a:pPr marL="88900" indent="0" algn="just">
              <a:lnSpc>
                <a:spcPct val="150000"/>
              </a:lnSpc>
              <a:buNone/>
            </a:pPr>
            <a:r>
              <a:rPr lang="en-US" sz="2000" dirty="0">
                <a:latin typeface="Times New Roman" panose="02020603050405020304" pitchFamily="18" charset="0"/>
                <a:cs typeface="Times New Roman" panose="02020603050405020304" pitchFamily="18" charset="0"/>
              </a:rPr>
              <a:t>3.AI4Bharat — </a:t>
            </a:r>
            <a:r>
              <a:rPr lang="en-US" sz="2000" dirty="0" err="1">
                <a:latin typeface="Times New Roman" panose="02020603050405020304" pitchFamily="18" charset="0"/>
                <a:cs typeface="Times New Roman" panose="02020603050405020304" pitchFamily="18" charset="0"/>
              </a:rPr>
              <a:t>IndicASR</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IndicTTS</a:t>
            </a:r>
            <a:r>
              <a:rPr lang="en-US" sz="2000" dirty="0">
                <a:latin typeface="Times New Roman" panose="02020603050405020304" pitchFamily="18" charset="0"/>
                <a:cs typeface="Times New Roman" panose="02020603050405020304" pitchFamily="18" charset="0"/>
              </a:rPr>
              <a:t>: Open-source speech models for Indian languages, IIT Madras</a:t>
            </a:r>
          </a:p>
          <a:p>
            <a:pPr marL="88900" indent="0" algn="just">
              <a:lnSpc>
                <a:spcPct val="150000"/>
              </a:lnSpc>
              <a:buNone/>
            </a:pPr>
            <a:r>
              <a:rPr lang="en-US" sz="2000" dirty="0">
                <a:latin typeface="Times New Roman" panose="02020603050405020304" pitchFamily="18" charset="0"/>
                <a:cs typeface="Times New Roman" panose="02020603050405020304" pitchFamily="18" charset="0"/>
              </a:rPr>
              <a:t>4. Kaggle Crop Recommendation Dataset — N-P-K, temperature, humidity, pH, rainfall to crop label dataset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677410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1330</TotalTime>
  <Words>973</Words>
  <Application>Microsoft Office PowerPoint</Application>
  <PresentationFormat>On-screen Show (4:3)</PresentationFormat>
  <Paragraphs>154</Paragraphs>
  <Slides>16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Book Antiqua</vt:lpstr>
      <vt:lpstr>Arial</vt:lpstr>
      <vt:lpstr>Archivo Narrow</vt:lpstr>
      <vt:lpstr>Georgia</vt:lpstr>
      <vt:lpstr>Times New Roman</vt:lpstr>
      <vt:lpstr>Simple Light</vt:lpstr>
      <vt:lpstr>AGRIMITRA : AI-Powered Smart Farming Assistant</vt:lpstr>
      <vt:lpstr>Agenda</vt:lpstr>
      <vt:lpstr>Abstract</vt:lpstr>
      <vt:lpstr>Problem Statement</vt:lpstr>
      <vt:lpstr>Objectives</vt:lpstr>
      <vt:lpstr>System Architecture</vt:lpstr>
      <vt:lpstr>Hardware and Software Requirements</vt:lpstr>
      <vt:lpstr>Software Stack</vt:lpstr>
      <vt:lpstr>AI &amp; ML Components</vt:lpstr>
      <vt:lpstr>Literature Review / Background Study</vt:lpstr>
      <vt:lpstr>Proposed Solution</vt:lpstr>
      <vt:lpstr>Modules</vt:lpstr>
      <vt:lpstr>Screenshots</vt:lpstr>
      <vt:lpstr>PowerPoint Presentation</vt:lpstr>
      <vt:lpstr>Timeline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 and Project Management (CS832E02)</dc:title>
  <dc:creator>Bijeesh</dc:creator>
  <cp:lastModifiedBy>Gowri Chandana</cp:lastModifiedBy>
  <cp:revision>60</cp:revision>
  <dcterms:modified xsi:type="dcterms:W3CDTF">2026-09-03T16:12:54Z</dcterms:modified>
</cp:coreProperties>
</file>